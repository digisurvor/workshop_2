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1" r:id="rId3"/>
    <p:sldId id="263" r:id="rId4"/>
    <p:sldId id="266" r:id="rId5"/>
    <p:sldId id="258" r:id="rId6"/>
    <p:sldId id="262" r:id="rId7"/>
    <p:sldId id="260" r:id="rId8"/>
    <p:sldId id="267" r:id="rId9"/>
    <p:sldId id="268" r:id="rId10"/>
    <p:sldId id="269" r:id="rId11"/>
    <p:sldId id="270" r:id="rId12"/>
    <p:sldId id="272" r:id="rId13"/>
    <p:sldId id="271" r:id="rId14"/>
    <p:sldId id="2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1CE68F-3353-4DB3-88E0-3307094377BB}" v="5" dt="2026-01-13T12:25:33.9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70" d="100"/>
          <a:sy n="70" d="100"/>
        </p:scale>
        <p:origin x="46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nor Gaughan" userId="9c5a4f6e-8427-42b3-8efd-c6ab48cf3600" providerId="ADAL" clId="{2C2E2D36-2D89-4D97-B54A-2A4CD0D35568}"/>
    <pc:docChg chg="undo custSel addSld modSld sldOrd">
      <pc:chgData name="Conor Gaughan" userId="9c5a4f6e-8427-42b3-8efd-c6ab48cf3600" providerId="ADAL" clId="{2C2E2D36-2D89-4D97-B54A-2A4CD0D35568}" dt="2026-01-13T13:25:57.172" v="3184" actId="20577"/>
      <pc:docMkLst>
        <pc:docMk/>
      </pc:docMkLst>
      <pc:sldChg chg="modSp mod">
        <pc:chgData name="Conor Gaughan" userId="9c5a4f6e-8427-42b3-8efd-c6ab48cf3600" providerId="ADAL" clId="{2C2E2D36-2D89-4D97-B54A-2A4CD0D35568}" dt="2026-01-13T11:51:11.283" v="894" actId="20577"/>
        <pc:sldMkLst>
          <pc:docMk/>
          <pc:sldMk cId="294983147" sldId="269"/>
        </pc:sldMkLst>
        <pc:spChg chg="mod">
          <ac:chgData name="Conor Gaughan" userId="9c5a4f6e-8427-42b3-8efd-c6ab48cf3600" providerId="ADAL" clId="{2C2E2D36-2D89-4D97-B54A-2A4CD0D35568}" dt="2026-01-13T11:51:11.283" v="894" actId="20577"/>
          <ac:spMkLst>
            <pc:docMk/>
            <pc:sldMk cId="294983147" sldId="269"/>
            <ac:spMk id="7" creationId="{BCBCA52A-29EF-AA79-9251-56B2ECE6FA03}"/>
          </ac:spMkLst>
        </pc:spChg>
      </pc:sldChg>
      <pc:sldChg chg="addSp modSp mod">
        <pc:chgData name="Conor Gaughan" userId="9c5a4f6e-8427-42b3-8efd-c6ab48cf3600" providerId="ADAL" clId="{2C2E2D36-2D89-4D97-B54A-2A4CD0D35568}" dt="2026-01-13T11:45:10.564" v="834" actId="20577"/>
        <pc:sldMkLst>
          <pc:docMk/>
          <pc:sldMk cId="384945649" sldId="270"/>
        </pc:sldMkLst>
        <pc:spChg chg="mod">
          <ac:chgData name="Conor Gaughan" userId="9c5a4f6e-8427-42b3-8efd-c6ab48cf3600" providerId="ADAL" clId="{2C2E2D36-2D89-4D97-B54A-2A4CD0D35568}" dt="2026-01-13T11:36:14.981" v="35" actId="20577"/>
          <ac:spMkLst>
            <pc:docMk/>
            <pc:sldMk cId="384945649" sldId="270"/>
            <ac:spMk id="2" creationId="{5CF9C579-7386-4E7E-C327-7FF0AE7EF946}"/>
          </ac:spMkLst>
        </pc:spChg>
        <pc:spChg chg="mod">
          <ac:chgData name="Conor Gaughan" userId="9c5a4f6e-8427-42b3-8efd-c6ab48cf3600" providerId="ADAL" clId="{2C2E2D36-2D89-4D97-B54A-2A4CD0D35568}" dt="2026-01-13T11:45:10.564" v="834" actId="20577"/>
          <ac:spMkLst>
            <pc:docMk/>
            <pc:sldMk cId="384945649" sldId="270"/>
            <ac:spMk id="3" creationId="{79BFE532-8BF2-0C40-ECD6-2389DCC98A64}"/>
          </ac:spMkLst>
        </pc:spChg>
        <pc:picChg chg="add mod">
          <ac:chgData name="Conor Gaughan" userId="9c5a4f6e-8427-42b3-8efd-c6ab48cf3600" providerId="ADAL" clId="{2C2E2D36-2D89-4D97-B54A-2A4CD0D35568}" dt="2026-01-13T11:42:37.437" v="567" actId="14100"/>
          <ac:picMkLst>
            <pc:docMk/>
            <pc:sldMk cId="384945649" sldId="270"/>
            <ac:picMk id="4" creationId="{00F901A5-D3F2-E3FE-7A20-3A3E94308FF6}"/>
          </ac:picMkLst>
        </pc:picChg>
      </pc:sldChg>
      <pc:sldChg chg="addSp delSp modSp new mod ord setBg">
        <pc:chgData name="Conor Gaughan" userId="9c5a4f6e-8427-42b3-8efd-c6ab48cf3600" providerId="ADAL" clId="{2C2E2D36-2D89-4D97-B54A-2A4CD0D35568}" dt="2026-01-13T12:29:00.095" v="1555" actId="20577"/>
        <pc:sldMkLst>
          <pc:docMk/>
          <pc:sldMk cId="965522375" sldId="271"/>
        </pc:sldMkLst>
        <pc:spChg chg="mod">
          <ac:chgData name="Conor Gaughan" userId="9c5a4f6e-8427-42b3-8efd-c6ab48cf3600" providerId="ADAL" clId="{2C2E2D36-2D89-4D97-B54A-2A4CD0D35568}" dt="2026-01-13T12:29:00.095" v="1555" actId="20577"/>
          <ac:spMkLst>
            <pc:docMk/>
            <pc:sldMk cId="965522375" sldId="271"/>
            <ac:spMk id="2" creationId="{B757C8CB-736F-53A3-B5AF-62D065E90FF6}"/>
          </ac:spMkLst>
        </pc:spChg>
        <pc:spChg chg="del">
          <ac:chgData name="Conor Gaughan" userId="9c5a4f6e-8427-42b3-8efd-c6ab48cf3600" providerId="ADAL" clId="{2C2E2D36-2D89-4D97-B54A-2A4CD0D35568}" dt="2026-01-13T11:46:16.741" v="884" actId="478"/>
          <ac:spMkLst>
            <pc:docMk/>
            <pc:sldMk cId="965522375" sldId="271"/>
            <ac:spMk id="3" creationId="{0E6BA15E-8592-6AC3-CC5A-8E05968B584D}"/>
          </ac:spMkLst>
        </pc:spChg>
        <pc:spChg chg="add mod">
          <ac:chgData name="Conor Gaughan" userId="9c5a4f6e-8427-42b3-8efd-c6ab48cf3600" providerId="ADAL" clId="{2C2E2D36-2D89-4D97-B54A-2A4CD0D35568}" dt="2026-01-13T11:48:08.979" v="890" actId="1076"/>
          <ac:spMkLst>
            <pc:docMk/>
            <pc:sldMk cId="965522375" sldId="271"/>
            <ac:spMk id="5" creationId="{B09BB4B1-6F7D-42C4-704B-73D00FB8023B}"/>
          </ac:spMkLst>
        </pc:spChg>
        <pc:spChg chg="add mod">
          <ac:chgData name="Conor Gaughan" userId="9c5a4f6e-8427-42b3-8efd-c6ab48cf3600" providerId="ADAL" clId="{2C2E2D36-2D89-4D97-B54A-2A4CD0D35568}" dt="2026-01-13T11:48:14.068" v="891" actId="1076"/>
          <ac:spMkLst>
            <pc:docMk/>
            <pc:sldMk cId="965522375" sldId="271"/>
            <ac:spMk id="6" creationId="{19BD7C1C-A459-76FA-1E57-470212509B09}"/>
          </ac:spMkLst>
        </pc:spChg>
        <pc:spChg chg="add mod">
          <ac:chgData name="Conor Gaughan" userId="9c5a4f6e-8427-42b3-8efd-c6ab48cf3600" providerId="ADAL" clId="{2C2E2D36-2D89-4D97-B54A-2A4CD0D35568}" dt="2026-01-13T11:48:18.756" v="892"/>
          <ac:spMkLst>
            <pc:docMk/>
            <pc:sldMk cId="965522375" sldId="271"/>
            <ac:spMk id="7" creationId="{2701543A-707C-A1AA-F2A3-6767EF53A423}"/>
          </ac:spMkLst>
        </pc:spChg>
        <pc:spChg chg="add mod">
          <ac:chgData name="Conor Gaughan" userId="9c5a4f6e-8427-42b3-8efd-c6ab48cf3600" providerId="ADAL" clId="{2C2E2D36-2D89-4D97-B54A-2A4CD0D35568}" dt="2026-01-13T11:48:18.756" v="892"/>
          <ac:spMkLst>
            <pc:docMk/>
            <pc:sldMk cId="965522375" sldId="271"/>
            <ac:spMk id="8" creationId="{5483FFF0-057F-CC00-D099-D709E2B6AF1D}"/>
          </ac:spMkLst>
        </pc:spChg>
        <pc:spChg chg="add">
          <ac:chgData name="Conor Gaughan" userId="9c5a4f6e-8427-42b3-8efd-c6ab48cf3600" providerId="ADAL" clId="{2C2E2D36-2D89-4D97-B54A-2A4CD0D35568}" dt="2026-01-13T11:46:21.693" v="886" actId="26606"/>
          <ac:spMkLst>
            <pc:docMk/>
            <pc:sldMk cId="965522375" sldId="271"/>
            <ac:spMk id="9" creationId="{53F29798-D584-4792-9B62-3F5F5C36D619}"/>
          </ac:spMkLst>
        </pc:spChg>
        <pc:picChg chg="add mod">
          <ac:chgData name="Conor Gaughan" userId="9c5a4f6e-8427-42b3-8efd-c6ab48cf3600" providerId="ADAL" clId="{2C2E2D36-2D89-4D97-B54A-2A4CD0D35568}" dt="2026-01-13T11:48:04.967" v="889" actId="1076"/>
          <ac:picMkLst>
            <pc:docMk/>
            <pc:sldMk cId="965522375" sldId="271"/>
            <ac:picMk id="4" creationId="{4FF3885E-016A-43A0-67B4-C885812634A2}"/>
          </ac:picMkLst>
        </pc:picChg>
      </pc:sldChg>
      <pc:sldChg chg="modSp new mod">
        <pc:chgData name="Conor Gaughan" userId="9c5a4f6e-8427-42b3-8efd-c6ab48cf3600" providerId="ADAL" clId="{2C2E2D36-2D89-4D97-B54A-2A4CD0D35568}" dt="2026-01-13T12:30:17.618" v="1749" actId="20577"/>
        <pc:sldMkLst>
          <pc:docMk/>
          <pc:sldMk cId="2917927271" sldId="272"/>
        </pc:sldMkLst>
        <pc:spChg chg="mod">
          <ac:chgData name="Conor Gaughan" userId="9c5a4f6e-8427-42b3-8efd-c6ab48cf3600" providerId="ADAL" clId="{2C2E2D36-2D89-4D97-B54A-2A4CD0D35568}" dt="2026-01-13T12:25:33.994" v="897"/>
          <ac:spMkLst>
            <pc:docMk/>
            <pc:sldMk cId="2917927271" sldId="272"/>
            <ac:spMk id="2" creationId="{EAFFF1FB-FF8D-C6FE-434D-ED9B48186C49}"/>
          </ac:spMkLst>
        </pc:spChg>
        <pc:spChg chg="mod">
          <ac:chgData name="Conor Gaughan" userId="9c5a4f6e-8427-42b3-8efd-c6ab48cf3600" providerId="ADAL" clId="{2C2E2D36-2D89-4D97-B54A-2A4CD0D35568}" dt="2026-01-13T12:30:17.618" v="1749" actId="20577"/>
          <ac:spMkLst>
            <pc:docMk/>
            <pc:sldMk cId="2917927271" sldId="272"/>
            <ac:spMk id="3" creationId="{8BA2AFE1-D4B1-4D77-AF8E-99D7D6E3276E}"/>
          </ac:spMkLst>
        </pc:spChg>
      </pc:sldChg>
      <pc:sldChg chg="modSp new mod">
        <pc:chgData name="Conor Gaughan" userId="9c5a4f6e-8427-42b3-8efd-c6ab48cf3600" providerId="ADAL" clId="{2C2E2D36-2D89-4D97-B54A-2A4CD0D35568}" dt="2026-01-13T13:25:57.172" v="3184" actId="20577"/>
        <pc:sldMkLst>
          <pc:docMk/>
          <pc:sldMk cId="36318292" sldId="273"/>
        </pc:sldMkLst>
        <pc:spChg chg="mod">
          <ac:chgData name="Conor Gaughan" userId="9c5a4f6e-8427-42b3-8efd-c6ab48cf3600" providerId="ADAL" clId="{2C2E2D36-2D89-4D97-B54A-2A4CD0D35568}" dt="2026-01-13T13:05:01.694" v="1784" actId="20577"/>
          <ac:spMkLst>
            <pc:docMk/>
            <pc:sldMk cId="36318292" sldId="273"/>
            <ac:spMk id="2" creationId="{A26E8192-9076-72FE-6328-50B48D8A70DA}"/>
          </ac:spMkLst>
        </pc:spChg>
        <pc:spChg chg="mod">
          <ac:chgData name="Conor Gaughan" userId="9c5a4f6e-8427-42b3-8efd-c6ab48cf3600" providerId="ADAL" clId="{2C2E2D36-2D89-4D97-B54A-2A4CD0D35568}" dt="2026-01-13T13:25:57.172" v="3184" actId="20577"/>
          <ac:spMkLst>
            <pc:docMk/>
            <pc:sldMk cId="36318292" sldId="273"/>
            <ac:spMk id="3" creationId="{4B88EB5F-405F-7571-CADA-43766B3ABCD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A68B6-DE98-E8F8-82C2-AEC22407C1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214EF86-A3A9-7645-DC27-B9FB9FE2B0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25514F1-907A-90B2-289F-86EB1A53EF80}"/>
              </a:ext>
            </a:extLst>
          </p:cNvPr>
          <p:cNvSpPr>
            <a:spLocks noGrp="1"/>
          </p:cNvSpPr>
          <p:nvPr>
            <p:ph type="dt" sz="half" idx="10"/>
          </p:nvPr>
        </p:nvSpPr>
        <p:spPr/>
        <p:txBody>
          <a:bodyPr/>
          <a:lstStyle/>
          <a:p>
            <a:fld id="{83CE6864-FF63-4419-AFF9-E43427BE967C}" type="datetimeFigureOut">
              <a:rPr lang="en-GB" smtClean="0"/>
              <a:t>13/01/2026</a:t>
            </a:fld>
            <a:endParaRPr lang="en-GB"/>
          </a:p>
        </p:txBody>
      </p:sp>
      <p:sp>
        <p:nvSpPr>
          <p:cNvPr id="5" name="Footer Placeholder 4">
            <a:extLst>
              <a:ext uri="{FF2B5EF4-FFF2-40B4-BE49-F238E27FC236}">
                <a16:creationId xmlns:a16="http://schemas.microsoft.com/office/drawing/2014/main" id="{26A156BC-9E4F-4308-38E2-3115F137D5C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21E137-E787-BA09-92E2-2A44021B4254}"/>
              </a:ext>
            </a:extLst>
          </p:cNvPr>
          <p:cNvSpPr>
            <a:spLocks noGrp="1"/>
          </p:cNvSpPr>
          <p:nvPr>
            <p:ph type="sldNum" sz="quarter" idx="12"/>
          </p:nvPr>
        </p:nvSpPr>
        <p:spPr/>
        <p:txBody>
          <a:bodyPr/>
          <a:lstStyle/>
          <a:p>
            <a:fld id="{4E3F9721-B424-45CA-8BBC-50ECD3604A37}" type="slidenum">
              <a:rPr lang="en-GB" smtClean="0"/>
              <a:t>‹#›</a:t>
            </a:fld>
            <a:endParaRPr lang="en-GB"/>
          </a:p>
        </p:txBody>
      </p:sp>
    </p:spTree>
    <p:extLst>
      <p:ext uri="{BB962C8B-B14F-4D97-AF65-F5344CB8AC3E}">
        <p14:creationId xmlns:p14="http://schemas.microsoft.com/office/powerpoint/2010/main" val="1825710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C19D7-3D95-1545-070B-6F1800615E8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AF56C8F-453B-BAC1-65FA-3D642B615A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9090A08-FCBE-6209-CC67-5D7BF28F0874}"/>
              </a:ext>
            </a:extLst>
          </p:cNvPr>
          <p:cNvSpPr>
            <a:spLocks noGrp="1"/>
          </p:cNvSpPr>
          <p:nvPr>
            <p:ph type="dt" sz="half" idx="10"/>
          </p:nvPr>
        </p:nvSpPr>
        <p:spPr/>
        <p:txBody>
          <a:bodyPr/>
          <a:lstStyle/>
          <a:p>
            <a:fld id="{83CE6864-FF63-4419-AFF9-E43427BE967C}" type="datetimeFigureOut">
              <a:rPr lang="en-GB" smtClean="0"/>
              <a:t>13/01/2026</a:t>
            </a:fld>
            <a:endParaRPr lang="en-GB"/>
          </a:p>
        </p:txBody>
      </p:sp>
      <p:sp>
        <p:nvSpPr>
          <p:cNvPr id="5" name="Footer Placeholder 4">
            <a:extLst>
              <a:ext uri="{FF2B5EF4-FFF2-40B4-BE49-F238E27FC236}">
                <a16:creationId xmlns:a16="http://schemas.microsoft.com/office/drawing/2014/main" id="{A7EE12FC-9B76-4FD5-3DDF-1CEA1014FF6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1FED8DC-7906-996F-8CAD-EBF75E64BD6D}"/>
              </a:ext>
            </a:extLst>
          </p:cNvPr>
          <p:cNvSpPr>
            <a:spLocks noGrp="1"/>
          </p:cNvSpPr>
          <p:nvPr>
            <p:ph type="sldNum" sz="quarter" idx="12"/>
          </p:nvPr>
        </p:nvSpPr>
        <p:spPr/>
        <p:txBody>
          <a:bodyPr/>
          <a:lstStyle/>
          <a:p>
            <a:fld id="{4E3F9721-B424-45CA-8BBC-50ECD3604A37}" type="slidenum">
              <a:rPr lang="en-GB" smtClean="0"/>
              <a:t>‹#›</a:t>
            </a:fld>
            <a:endParaRPr lang="en-GB"/>
          </a:p>
        </p:txBody>
      </p:sp>
    </p:spTree>
    <p:extLst>
      <p:ext uri="{BB962C8B-B14F-4D97-AF65-F5344CB8AC3E}">
        <p14:creationId xmlns:p14="http://schemas.microsoft.com/office/powerpoint/2010/main" val="409129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3296F-9E9F-C0C4-AB73-CE04B2B1C9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EA36A77-66C9-D8D6-5B5C-27037E69EE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AD89AD-F5F6-C532-151D-5A7DF575ABD4}"/>
              </a:ext>
            </a:extLst>
          </p:cNvPr>
          <p:cNvSpPr>
            <a:spLocks noGrp="1"/>
          </p:cNvSpPr>
          <p:nvPr>
            <p:ph type="dt" sz="half" idx="10"/>
          </p:nvPr>
        </p:nvSpPr>
        <p:spPr/>
        <p:txBody>
          <a:bodyPr/>
          <a:lstStyle/>
          <a:p>
            <a:fld id="{83CE6864-FF63-4419-AFF9-E43427BE967C}" type="datetimeFigureOut">
              <a:rPr lang="en-GB" smtClean="0"/>
              <a:t>13/01/2026</a:t>
            </a:fld>
            <a:endParaRPr lang="en-GB"/>
          </a:p>
        </p:txBody>
      </p:sp>
      <p:sp>
        <p:nvSpPr>
          <p:cNvPr id="5" name="Footer Placeholder 4">
            <a:extLst>
              <a:ext uri="{FF2B5EF4-FFF2-40B4-BE49-F238E27FC236}">
                <a16:creationId xmlns:a16="http://schemas.microsoft.com/office/drawing/2014/main" id="{69944972-DD09-260E-12C1-3B4480ACBB4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5D53CAB-D445-53C2-62CF-2409D775085A}"/>
              </a:ext>
            </a:extLst>
          </p:cNvPr>
          <p:cNvSpPr>
            <a:spLocks noGrp="1"/>
          </p:cNvSpPr>
          <p:nvPr>
            <p:ph type="sldNum" sz="quarter" idx="12"/>
          </p:nvPr>
        </p:nvSpPr>
        <p:spPr/>
        <p:txBody>
          <a:bodyPr/>
          <a:lstStyle/>
          <a:p>
            <a:fld id="{4E3F9721-B424-45CA-8BBC-50ECD3604A37}" type="slidenum">
              <a:rPr lang="en-GB" smtClean="0"/>
              <a:t>‹#›</a:t>
            </a:fld>
            <a:endParaRPr lang="en-GB"/>
          </a:p>
        </p:txBody>
      </p:sp>
    </p:spTree>
    <p:extLst>
      <p:ext uri="{BB962C8B-B14F-4D97-AF65-F5344CB8AC3E}">
        <p14:creationId xmlns:p14="http://schemas.microsoft.com/office/powerpoint/2010/main" val="1930887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6A983-8BBA-4B58-8873-CFCB077B28D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DD990C1-A173-D7A4-96C7-15E1D3467D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619BED3-7649-FA7F-8544-88EF453496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85CA29D-D203-EDD8-11DB-06C81CBDF896}"/>
              </a:ext>
            </a:extLst>
          </p:cNvPr>
          <p:cNvSpPr>
            <a:spLocks noGrp="1"/>
          </p:cNvSpPr>
          <p:nvPr>
            <p:ph type="dt" sz="half" idx="10"/>
          </p:nvPr>
        </p:nvSpPr>
        <p:spPr/>
        <p:txBody>
          <a:bodyPr/>
          <a:lstStyle/>
          <a:p>
            <a:fld id="{83CE6864-FF63-4419-AFF9-E43427BE967C}" type="datetimeFigureOut">
              <a:rPr lang="en-GB" smtClean="0"/>
              <a:t>13/01/2026</a:t>
            </a:fld>
            <a:endParaRPr lang="en-GB"/>
          </a:p>
        </p:txBody>
      </p:sp>
      <p:sp>
        <p:nvSpPr>
          <p:cNvPr id="6" name="Footer Placeholder 5">
            <a:extLst>
              <a:ext uri="{FF2B5EF4-FFF2-40B4-BE49-F238E27FC236}">
                <a16:creationId xmlns:a16="http://schemas.microsoft.com/office/drawing/2014/main" id="{7FA501BB-268C-AB27-ACAF-ED26C4D5B36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744E81B-AD20-C2A0-C477-87D7DD409607}"/>
              </a:ext>
            </a:extLst>
          </p:cNvPr>
          <p:cNvSpPr>
            <a:spLocks noGrp="1"/>
          </p:cNvSpPr>
          <p:nvPr>
            <p:ph type="sldNum" sz="quarter" idx="12"/>
          </p:nvPr>
        </p:nvSpPr>
        <p:spPr/>
        <p:txBody>
          <a:bodyPr/>
          <a:lstStyle/>
          <a:p>
            <a:fld id="{4E3F9721-B424-45CA-8BBC-50ECD3604A37}" type="slidenum">
              <a:rPr lang="en-GB" smtClean="0"/>
              <a:t>‹#›</a:t>
            </a:fld>
            <a:endParaRPr lang="en-GB"/>
          </a:p>
        </p:txBody>
      </p:sp>
    </p:spTree>
    <p:extLst>
      <p:ext uri="{BB962C8B-B14F-4D97-AF65-F5344CB8AC3E}">
        <p14:creationId xmlns:p14="http://schemas.microsoft.com/office/powerpoint/2010/main" val="2997486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3D937-2015-604A-7C81-A946BE52D97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82E592C-BAD9-2481-BE98-E89AE4FB81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77F6A1-940C-55F0-9B92-8EE4C25F0B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845D9D0-AC37-D5FD-B70D-EE4C21737A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BE4389-FCD3-0318-260C-E4C0499052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D366978-92DD-1F9A-1109-F960004CAB75}"/>
              </a:ext>
            </a:extLst>
          </p:cNvPr>
          <p:cNvSpPr>
            <a:spLocks noGrp="1"/>
          </p:cNvSpPr>
          <p:nvPr>
            <p:ph type="dt" sz="half" idx="10"/>
          </p:nvPr>
        </p:nvSpPr>
        <p:spPr/>
        <p:txBody>
          <a:bodyPr/>
          <a:lstStyle/>
          <a:p>
            <a:fld id="{83CE6864-FF63-4419-AFF9-E43427BE967C}" type="datetimeFigureOut">
              <a:rPr lang="en-GB" smtClean="0"/>
              <a:t>13/01/2026</a:t>
            </a:fld>
            <a:endParaRPr lang="en-GB"/>
          </a:p>
        </p:txBody>
      </p:sp>
      <p:sp>
        <p:nvSpPr>
          <p:cNvPr id="8" name="Footer Placeholder 7">
            <a:extLst>
              <a:ext uri="{FF2B5EF4-FFF2-40B4-BE49-F238E27FC236}">
                <a16:creationId xmlns:a16="http://schemas.microsoft.com/office/drawing/2014/main" id="{F8BA3151-3054-B651-4301-9B30FFC326A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1800224-75B4-622B-DD7D-CFF32696CE2A}"/>
              </a:ext>
            </a:extLst>
          </p:cNvPr>
          <p:cNvSpPr>
            <a:spLocks noGrp="1"/>
          </p:cNvSpPr>
          <p:nvPr>
            <p:ph type="sldNum" sz="quarter" idx="12"/>
          </p:nvPr>
        </p:nvSpPr>
        <p:spPr/>
        <p:txBody>
          <a:bodyPr/>
          <a:lstStyle/>
          <a:p>
            <a:fld id="{4E3F9721-B424-45CA-8BBC-50ECD3604A37}" type="slidenum">
              <a:rPr lang="en-GB" smtClean="0"/>
              <a:t>‹#›</a:t>
            </a:fld>
            <a:endParaRPr lang="en-GB"/>
          </a:p>
        </p:txBody>
      </p:sp>
    </p:spTree>
    <p:extLst>
      <p:ext uri="{BB962C8B-B14F-4D97-AF65-F5344CB8AC3E}">
        <p14:creationId xmlns:p14="http://schemas.microsoft.com/office/powerpoint/2010/main" val="2239721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9FA42-90A1-CE2E-EA2D-2E4735BCD55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EEACA4F-C17C-BB59-0A6C-6606720047E5}"/>
              </a:ext>
            </a:extLst>
          </p:cNvPr>
          <p:cNvSpPr>
            <a:spLocks noGrp="1"/>
          </p:cNvSpPr>
          <p:nvPr>
            <p:ph type="dt" sz="half" idx="10"/>
          </p:nvPr>
        </p:nvSpPr>
        <p:spPr/>
        <p:txBody>
          <a:bodyPr/>
          <a:lstStyle/>
          <a:p>
            <a:fld id="{83CE6864-FF63-4419-AFF9-E43427BE967C}" type="datetimeFigureOut">
              <a:rPr lang="en-GB" smtClean="0"/>
              <a:t>13/01/2026</a:t>
            </a:fld>
            <a:endParaRPr lang="en-GB"/>
          </a:p>
        </p:txBody>
      </p:sp>
      <p:sp>
        <p:nvSpPr>
          <p:cNvPr id="4" name="Footer Placeholder 3">
            <a:extLst>
              <a:ext uri="{FF2B5EF4-FFF2-40B4-BE49-F238E27FC236}">
                <a16:creationId xmlns:a16="http://schemas.microsoft.com/office/drawing/2014/main" id="{80FF69A4-D2F0-FB9C-8EEB-D4A03ACE838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DF9367D-6325-702D-48E0-22B814C4AD06}"/>
              </a:ext>
            </a:extLst>
          </p:cNvPr>
          <p:cNvSpPr>
            <a:spLocks noGrp="1"/>
          </p:cNvSpPr>
          <p:nvPr>
            <p:ph type="sldNum" sz="quarter" idx="12"/>
          </p:nvPr>
        </p:nvSpPr>
        <p:spPr/>
        <p:txBody>
          <a:bodyPr/>
          <a:lstStyle/>
          <a:p>
            <a:fld id="{4E3F9721-B424-45CA-8BBC-50ECD3604A37}" type="slidenum">
              <a:rPr lang="en-GB" smtClean="0"/>
              <a:t>‹#›</a:t>
            </a:fld>
            <a:endParaRPr lang="en-GB"/>
          </a:p>
        </p:txBody>
      </p:sp>
    </p:spTree>
    <p:extLst>
      <p:ext uri="{BB962C8B-B14F-4D97-AF65-F5344CB8AC3E}">
        <p14:creationId xmlns:p14="http://schemas.microsoft.com/office/powerpoint/2010/main" val="3301642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358A6E-3909-FBD2-8B39-C26063B136D4}"/>
              </a:ext>
            </a:extLst>
          </p:cNvPr>
          <p:cNvSpPr>
            <a:spLocks noGrp="1"/>
          </p:cNvSpPr>
          <p:nvPr>
            <p:ph type="dt" sz="half" idx="10"/>
          </p:nvPr>
        </p:nvSpPr>
        <p:spPr/>
        <p:txBody>
          <a:bodyPr/>
          <a:lstStyle/>
          <a:p>
            <a:fld id="{83CE6864-FF63-4419-AFF9-E43427BE967C}" type="datetimeFigureOut">
              <a:rPr lang="en-GB" smtClean="0"/>
              <a:t>13/01/2026</a:t>
            </a:fld>
            <a:endParaRPr lang="en-GB"/>
          </a:p>
        </p:txBody>
      </p:sp>
      <p:sp>
        <p:nvSpPr>
          <p:cNvPr id="3" name="Footer Placeholder 2">
            <a:extLst>
              <a:ext uri="{FF2B5EF4-FFF2-40B4-BE49-F238E27FC236}">
                <a16:creationId xmlns:a16="http://schemas.microsoft.com/office/drawing/2014/main" id="{28B947E8-A545-86A5-C59C-4F3A84D963B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B04AD50-D7B6-87B6-41FE-D53B41B5F744}"/>
              </a:ext>
            </a:extLst>
          </p:cNvPr>
          <p:cNvSpPr>
            <a:spLocks noGrp="1"/>
          </p:cNvSpPr>
          <p:nvPr>
            <p:ph type="sldNum" sz="quarter" idx="12"/>
          </p:nvPr>
        </p:nvSpPr>
        <p:spPr/>
        <p:txBody>
          <a:bodyPr/>
          <a:lstStyle/>
          <a:p>
            <a:fld id="{4E3F9721-B424-45CA-8BBC-50ECD3604A37}" type="slidenum">
              <a:rPr lang="en-GB" smtClean="0"/>
              <a:t>‹#›</a:t>
            </a:fld>
            <a:endParaRPr lang="en-GB"/>
          </a:p>
        </p:txBody>
      </p:sp>
    </p:spTree>
    <p:extLst>
      <p:ext uri="{BB962C8B-B14F-4D97-AF65-F5344CB8AC3E}">
        <p14:creationId xmlns:p14="http://schemas.microsoft.com/office/powerpoint/2010/main" val="1108003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F4CA2-870B-02F0-8B8F-DDE97C6F65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24A96E4-8FB3-C2A5-79A0-73313E8E47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DC58CBF-49BF-DD12-EE1B-EDEFF483DD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A65BE0-02AD-969C-0054-46FBE3EC797C}"/>
              </a:ext>
            </a:extLst>
          </p:cNvPr>
          <p:cNvSpPr>
            <a:spLocks noGrp="1"/>
          </p:cNvSpPr>
          <p:nvPr>
            <p:ph type="dt" sz="half" idx="10"/>
          </p:nvPr>
        </p:nvSpPr>
        <p:spPr/>
        <p:txBody>
          <a:bodyPr/>
          <a:lstStyle/>
          <a:p>
            <a:fld id="{83CE6864-FF63-4419-AFF9-E43427BE967C}" type="datetimeFigureOut">
              <a:rPr lang="en-GB" smtClean="0"/>
              <a:t>13/01/2026</a:t>
            </a:fld>
            <a:endParaRPr lang="en-GB"/>
          </a:p>
        </p:txBody>
      </p:sp>
      <p:sp>
        <p:nvSpPr>
          <p:cNvPr id="6" name="Footer Placeholder 5">
            <a:extLst>
              <a:ext uri="{FF2B5EF4-FFF2-40B4-BE49-F238E27FC236}">
                <a16:creationId xmlns:a16="http://schemas.microsoft.com/office/drawing/2014/main" id="{D85044AB-46F2-8891-64C5-9F4ABE3E323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7AEC314-ED01-D6D9-47D5-728A1B13FCF4}"/>
              </a:ext>
            </a:extLst>
          </p:cNvPr>
          <p:cNvSpPr>
            <a:spLocks noGrp="1"/>
          </p:cNvSpPr>
          <p:nvPr>
            <p:ph type="sldNum" sz="quarter" idx="12"/>
          </p:nvPr>
        </p:nvSpPr>
        <p:spPr/>
        <p:txBody>
          <a:bodyPr/>
          <a:lstStyle/>
          <a:p>
            <a:fld id="{4E3F9721-B424-45CA-8BBC-50ECD3604A37}" type="slidenum">
              <a:rPr lang="en-GB" smtClean="0"/>
              <a:t>‹#›</a:t>
            </a:fld>
            <a:endParaRPr lang="en-GB"/>
          </a:p>
        </p:txBody>
      </p:sp>
    </p:spTree>
    <p:extLst>
      <p:ext uri="{BB962C8B-B14F-4D97-AF65-F5344CB8AC3E}">
        <p14:creationId xmlns:p14="http://schemas.microsoft.com/office/powerpoint/2010/main" val="1920175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6E051-F71A-9953-0D23-30CA79586F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766D037-9560-641D-CBA6-EA8603F8DB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F3A4018-863F-8F7B-B60E-0D93F16246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94C38A-4186-F30A-5461-BFAE38A74E9E}"/>
              </a:ext>
            </a:extLst>
          </p:cNvPr>
          <p:cNvSpPr>
            <a:spLocks noGrp="1"/>
          </p:cNvSpPr>
          <p:nvPr>
            <p:ph type="dt" sz="half" idx="10"/>
          </p:nvPr>
        </p:nvSpPr>
        <p:spPr/>
        <p:txBody>
          <a:bodyPr/>
          <a:lstStyle/>
          <a:p>
            <a:fld id="{83CE6864-FF63-4419-AFF9-E43427BE967C}" type="datetimeFigureOut">
              <a:rPr lang="en-GB" smtClean="0"/>
              <a:t>13/01/2026</a:t>
            </a:fld>
            <a:endParaRPr lang="en-GB"/>
          </a:p>
        </p:txBody>
      </p:sp>
      <p:sp>
        <p:nvSpPr>
          <p:cNvPr id="6" name="Footer Placeholder 5">
            <a:extLst>
              <a:ext uri="{FF2B5EF4-FFF2-40B4-BE49-F238E27FC236}">
                <a16:creationId xmlns:a16="http://schemas.microsoft.com/office/drawing/2014/main" id="{BCE77F36-6E8F-3F04-7263-1BFC8B3173C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43C452B-A6E0-1CB3-99A8-2332109BFFEB}"/>
              </a:ext>
            </a:extLst>
          </p:cNvPr>
          <p:cNvSpPr>
            <a:spLocks noGrp="1"/>
          </p:cNvSpPr>
          <p:nvPr>
            <p:ph type="sldNum" sz="quarter" idx="12"/>
          </p:nvPr>
        </p:nvSpPr>
        <p:spPr/>
        <p:txBody>
          <a:bodyPr/>
          <a:lstStyle/>
          <a:p>
            <a:fld id="{4E3F9721-B424-45CA-8BBC-50ECD3604A37}" type="slidenum">
              <a:rPr lang="en-GB" smtClean="0"/>
              <a:t>‹#›</a:t>
            </a:fld>
            <a:endParaRPr lang="en-GB"/>
          </a:p>
        </p:txBody>
      </p:sp>
    </p:spTree>
    <p:extLst>
      <p:ext uri="{BB962C8B-B14F-4D97-AF65-F5344CB8AC3E}">
        <p14:creationId xmlns:p14="http://schemas.microsoft.com/office/powerpoint/2010/main" val="1505535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DE986-9093-66C7-45D9-49740598D8B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0F424AD-3415-F12C-9373-EF42041863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99A9F82-CD60-A0AB-D773-1ED71898EDF5}"/>
              </a:ext>
            </a:extLst>
          </p:cNvPr>
          <p:cNvSpPr>
            <a:spLocks noGrp="1"/>
          </p:cNvSpPr>
          <p:nvPr>
            <p:ph type="dt" sz="half" idx="10"/>
          </p:nvPr>
        </p:nvSpPr>
        <p:spPr/>
        <p:txBody>
          <a:bodyPr/>
          <a:lstStyle/>
          <a:p>
            <a:fld id="{83CE6864-FF63-4419-AFF9-E43427BE967C}" type="datetimeFigureOut">
              <a:rPr lang="en-GB" smtClean="0"/>
              <a:t>13/01/2026</a:t>
            </a:fld>
            <a:endParaRPr lang="en-GB"/>
          </a:p>
        </p:txBody>
      </p:sp>
      <p:sp>
        <p:nvSpPr>
          <p:cNvPr id="5" name="Footer Placeholder 4">
            <a:extLst>
              <a:ext uri="{FF2B5EF4-FFF2-40B4-BE49-F238E27FC236}">
                <a16:creationId xmlns:a16="http://schemas.microsoft.com/office/drawing/2014/main" id="{C2E838B6-F763-F49C-6763-4E330225E05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A82CD28-ACA4-E788-045A-C0A2301B1FEF}"/>
              </a:ext>
            </a:extLst>
          </p:cNvPr>
          <p:cNvSpPr>
            <a:spLocks noGrp="1"/>
          </p:cNvSpPr>
          <p:nvPr>
            <p:ph type="sldNum" sz="quarter" idx="12"/>
          </p:nvPr>
        </p:nvSpPr>
        <p:spPr/>
        <p:txBody>
          <a:bodyPr/>
          <a:lstStyle/>
          <a:p>
            <a:fld id="{4E3F9721-B424-45CA-8BBC-50ECD3604A37}" type="slidenum">
              <a:rPr lang="en-GB" smtClean="0"/>
              <a:t>‹#›</a:t>
            </a:fld>
            <a:endParaRPr lang="en-GB"/>
          </a:p>
        </p:txBody>
      </p:sp>
    </p:spTree>
    <p:extLst>
      <p:ext uri="{BB962C8B-B14F-4D97-AF65-F5344CB8AC3E}">
        <p14:creationId xmlns:p14="http://schemas.microsoft.com/office/powerpoint/2010/main" val="2738030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31A349-0159-4DD3-2F1E-929C57805C2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50FFC47-0F20-06CF-8136-D156B74305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53FB189-148F-2E63-255E-189F8180B753}"/>
              </a:ext>
            </a:extLst>
          </p:cNvPr>
          <p:cNvSpPr>
            <a:spLocks noGrp="1"/>
          </p:cNvSpPr>
          <p:nvPr>
            <p:ph type="dt" sz="half" idx="10"/>
          </p:nvPr>
        </p:nvSpPr>
        <p:spPr/>
        <p:txBody>
          <a:bodyPr/>
          <a:lstStyle/>
          <a:p>
            <a:fld id="{83CE6864-FF63-4419-AFF9-E43427BE967C}" type="datetimeFigureOut">
              <a:rPr lang="en-GB" smtClean="0"/>
              <a:t>13/01/2026</a:t>
            </a:fld>
            <a:endParaRPr lang="en-GB"/>
          </a:p>
        </p:txBody>
      </p:sp>
      <p:sp>
        <p:nvSpPr>
          <p:cNvPr id="5" name="Footer Placeholder 4">
            <a:extLst>
              <a:ext uri="{FF2B5EF4-FFF2-40B4-BE49-F238E27FC236}">
                <a16:creationId xmlns:a16="http://schemas.microsoft.com/office/drawing/2014/main" id="{D0BCA143-A2ED-7A0B-F1BC-4676435CDAB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5F4B743-3A0C-472F-3371-B32843EDB872}"/>
              </a:ext>
            </a:extLst>
          </p:cNvPr>
          <p:cNvSpPr>
            <a:spLocks noGrp="1"/>
          </p:cNvSpPr>
          <p:nvPr>
            <p:ph type="sldNum" sz="quarter" idx="12"/>
          </p:nvPr>
        </p:nvSpPr>
        <p:spPr/>
        <p:txBody>
          <a:bodyPr/>
          <a:lstStyle/>
          <a:p>
            <a:fld id="{4E3F9721-B424-45CA-8BBC-50ECD3604A37}" type="slidenum">
              <a:rPr lang="en-GB" smtClean="0"/>
              <a:t>‹#›</a:t>
            </a:fld>
            <a:endParaRPr lang="en-GB"/>
          </a:p>
        </p:txBody>
      </p:sp>
    </p:spTree>
    <p:extLst>
      <p:ext uri="{BB962C8B-B14F-4D97-AF65-F5344CB8AC3E}">
        <p14:creationId xmlns:p14="http://schemas.microsoft.com/office/powerpoint/2010/main" val="1002453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847CA2-719B-7521-41EA-85D2159AB7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E4F296A-1143-8961-A8FD-A43FECF363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D0FA8E2-8EED-2058-5615-3635071D01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CE6864-FF63-4419-AFF9-E43427BE967C}" type="datetimeFigureOut">
              <a:rPr lang="en-GB" smtClean="0"/>
              <a:t>13/01/2026</a:t>
            </a:fld>
            <a:endParaRPr lang="en-GB"/>
          </a:p>
        </p:txBody>
      </p:sp>
      <p:sp>
        <p:nvSpPr>
          <p:cNvPr id="5" name="Footer Placeholder 4">
            <a:extLst>
              <a:ext uri="{FF2B5EF4-FFF2-40B4-BE49-F238E27FC236}">
                <a16:creationId xmlns:a16="http://schemas.microsoft.com/office/drawing/2014/main" id="{60A94732-02EC-686D-78B4-A1963E88ED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0E45C68-FD80-78CA-293B-B6F28801A2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3F9721-B424-45CA-8BBC-50ECD3604A37}" type="slidenum">
              <a:rPr lang="en-GB" smtClean="0"/>
              <a:t>‹#›</a:t>
            </a:fld>
            <a:endParaRPr lang="en-GB"/>
          </a:p>
        </p:txBody>
      </p:sp>
    </p:spTree>
    <p:extLst>
      <p:ext uri="{BB962C8B-B14F-4D97-AF65-F5344CB8AC3E}">
        <p14:creationId xmlns:p14="http://schemas.microsoft.com/office/powerpoint/2010/main" val="42393447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1" name="Picture 7" descr="University of Manchester">
            <a:extLst>
              <a:ext uri="{FF2B5EF4-FFF2-40B4-BE49-F238E27FC236}">
                <a16:creationId xmlns:a16="http://schemas.microsoft.com/office/drawing/2014/main" id="{06A0BC10-9B93-9DB4-CBB8-9B241B5DEF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5273" y="346999"/>
            <a:ext cx="1713738" cy="74261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F6D7F20-50D4-1A6E-E55F-3C69551BA05C}"/>
              </a:ext>
            </a:extLst>
          </p:cNvPr>
          <p:cNvSpPr txBox="1"/>
          <p:nvPr/>
        </p:nvSpPr>
        <p:spPr>
          <a:xfrm>
            <a:off x="519684" y="1904303"/>
            <a:ext cx="10369296" cy="954107"/>
          </a:xfrm>
          <a:prstGeom prst="rect">
            <a:avLst/>
          </a:prstGeom>
          <a:noFill/>
        </p:spPr>
        <p:txBody>
          <a:bodyPr wrap="square" rtlCol="0">
            <a:spAutoFit/>
          </a:bodyPr>
          <a:lstStyle/>
          <a:p>
            <a:r>
              <a:rPr lang="en-GB" sz="2800" b="1" dirty="0"/>
              <a:t>Linking Survey and Social Media Data: Bridging the Gap Between Data Protection and Open Research </a:t>
            </a:r>
            <a:endParaRPr lang="en-GB" dirty="0"/>
          </a:p>
        </p:txBody>
      </p:sp>
      <p:grpSp>
        <p:nvGrpSpPr>
          <p:cNvPr id="6" name="Group 5">
            <a:extLst>
              <a:ext uri="{FF2B5EF4-FFF2-40B4-BE49-F238E27FC236}">
                <a16:creationId xmlns:a16="http://schemas.microsoft.com/office/drawing/2014/main" id="{C98DA761-33B1-4864-F43E-F7C31DF60453}"/>
              </a:ext>
            </a:extLst>
          </p:cNvPr>
          <p:cNvGrpSpPr/>
          <p:nvPr/>
        </p:nvGrpSpPr>
        <p:grpSpPr>
          <a:xfrm>
            <a:off x="455678" y="4018045"/>
            <a:ext cx="6007608" cy="1758528"/>
            <a:chOff x="410720" y="4914569"/>
            <a:chExt cx="6007608" cy="1758528"/>
          </a:xfrm>
        </p:grpSpPr>
        <p:sp>
          <p:nvSpPr>
            <p:cNvPr id="2" name="TextBox 1">
              <a:extLst>
                <a:ext uri="{FF2B5EF4-FFF2-40B4-BE49-F238E27FC236}">
                  <a16:creationId xmlns:a16="http://schemas.microsoft.com/office/drawing/2014/main" id="{CBC2E371-4386-718E-7733-6F5B8AD97EA4}"/>
                </a:ext>
              </a:extLst>
            </p:cNvPr>
            <p:cNvSpPr txBox="1"/>
            <p:nvPr/>
          </p:nvSpPr>
          <p:spPr>
            <a:xfrm>
              <a:off x="410720" y="4914569"/>
              <a:ext cx="6007608" cy="1754326"/>
            </a:xfrm>
            <a:prstGeom prst="rect">
              <a:avLst/>
            </a:prstGeom>
            <a:noFill/>
          </p:spPr>
          <p:txBody>
            <a:bodyPr wrap="square" rtlCol="0">
              <a:spAutoFit/>
            </a:bodyPr>
            <a:lstStyle/>
            <a:p>
              <a:r>
                <a:rPr lang="en-GB" dirty="0"/>
                <a:t>Dr. Conor Gaughan</a:t>
              </a:r>
            </a:p>
            <a:p>
              <a:r>
                <a:rPr lang="en-GB" dirty="0"/>
                <a:t>Postdoctoral Research Associate</a:t>
              </a:r>
            </a:p>
            <a:p>
              <a:r>
                <a:rPr lang="en-GB" dirty="0"/>
                <a:t>Cathie Marsh Institute for Social Research (CMI)</a:t>
              </a:r>
            </a:p>
            <a:p>
              <a:r>
                <a:rPr lang="en-GB" dirty="0"/>
                <a:t>University of Manchester</a:t>
              </a:r>
            </a:p>
            <a:p>
              <a:endParaRPr lang="en-GB" dirty="0"/>
            </a:p>
            <a:p>
              <a:endParaRPr lang="en-GB" dirty="0"/>
            </a:p>
          </p:txBody>
        </p:sp>
        <p:sp>
          <p:nvSpPr>
            <p:cNvPr id="9" name="TextBox 8">
              <a:extLst>
                <a:ext uri="{FF2B5EF4-FFF2-40B4-BE49-F238E27FC236}">
                  <a16:creationId xmlns:a16="http://schemas.microsoft.com/office/drawing/2014/main" id="{344A6545-674A-4F44-DC26-28BF7C243D85}"/>
                </a:ext>
              </a:extLst>
            </p:cNvPr>
            <p:cNvSpPr txBox="1"/>
            <p:nvPr/>
          </p:nvSpPr>
          <p:spPr>
            <a:xfrm>
              <a:off x="867918" y="6303765"/>
              <a:ext cx="4808982" cy="369332"/>
            </a:xfrm>
            <a:prstGeom prst="rect">
              <a:avLst/>
            </a:prstGeom>
            <a:noFill/>
          </p:spPr>
          <p:txBody>
            <a:bodyPr wrap="square" rtlCol="0">
              <a:spAutoFit/>
            </a:bodyPr>
            <a:lstStyle/>
            <a:p>
              <a:r>
                <a:rPr lang="en-GB" dirty="0"/>
                <a:t>@conor.gaughan@manchester.ac.uk</a:t>
              </a:r>
            </a:p>
          </p:txBody>
        </p:sp>
        <p:pic>
          <p:nvPicPr>
            <p:cNvPr id="11" name="Picture 2" descr="Free Letter Mail vector and picture">
              <a:extLst>
                <a:ext uri="{FF2B5EF4-FFF2-40B4-BE49-F238E27FC236}">
                  <a16:creationId xmlns:a16="http://schemas.microsoft.com/office/drawing/2014/main" id="{0A1C6AC2-4CCA-9704-9E07-2E0F550EA8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726" y="6348050"/>
              <a:ext cx="393192" cy="280763"/>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TextBox 17">
            <a:extLst>
              <a:ext uri="{FF2B5EF4-FFF2-40B4-BE49-F238E27FC236}">
                <a16:creationId xmlns:a16="http://schemas.microsoft.com/office/drawing/2014/main" id="{B0CCEDC3-82B2-A108-016A-F70E11B1D912}"/>
              </a:ext>
            </a:extLst>
          </p:cNvPr>
          <p:cNvSpPr txBox="1"/>
          <p:nvPr/>
        </p:nvSpPr>
        <p:spPr>
          <a:xfrm>
            <a:off x="519684" y="2880553"/>
            <a:ext cx="10369296" cy="369332"/>
          </a:xfrm>
          <a:prstGeom prst="rect">
            <a:avLst/>
          </a:prstGeom>
          <a:noFill/>
        </p:spPr>
        <p:txBody>
          <a:bodyPr wrap="square" rtlCol="0">
            <a:spAutoFit/>
          </a:bodyPr>
          <a:lstStyle/>
          <a:p>
            <a:r>
              <a:rPr lang="en-GB" dirty="0">
                <a:solidFill>
                  <a:schemeClr val="bg2">
                    <a:lumMod val="50000"/>
                  </a:schemeClr>
                </a:solidFill>
              </a:rPr>
              <a:t>Presentation to the DIGISURVOR Workshop</a:t>
            </a:r>
          </a:p>
        </p:txBody>
      </p:sp>
      <p:sp>
        <p:nvSpPr>
          <p:cNvPr id="20" name="TextBox 19">
            <a:extLst>
              <a:ext uri="{FF2B5EF4-FFF2-40B4-BE49-F238E27FC236}">
                <a16:creationId xmlns:a16="http://schemas.microsoft.com/office/drawing/2014/main" id="{18D36622-0FCC-B59B-44FD-B264CD0331B6}"/>
              </a:ext>
            </a:extLst>
          </p:cNvPr>
          <p:cNvSpPr txBox="1"/>
          <p:nvPr/>
        </p:nvSpPr>
        <p:spPr>
          <a:xfrm>
            <a:off x="519684" y="6089904"/>
            <a:ext cx="9959340" cy="369332"/>
          </a:xfrm>
          <a:prstGeom prst="rect">
            <a:avLst/>
          </a:prstGeom>
          <a:noFill/>
        </p:spPr>
        <p:txBody>
          <a:bodyPr wrap="square" rtlCol="0">
            <a:spAutoFit/>
          </a:bodyPr>
          <a:lstStyle/>
          <a:p>
            <a:r>
              <a:rPr lang="en-GB" b="1" dirty="0"/>
              <a:t>With: </a:t>
            </a:r>
            <a:r>
              <a:rPr lang="en-GB" dirty="0"/>
              <a:t>Rachel Gibson, Alex Cernat, Marta Cantijoch, Riza Batista-Navarro</a:t>
            </a:r>
          </a:p>
        </p:txBody>
      </p:sp>
      <p:pic>
        <p:nvPicPr>
          <p:cNvPr id="21" name="Picture 3" descr="Smart Data Research UK">
            <a:extLst>
              <a:ext uri="{FF2B5EF4-FFF2-40B4-BE49-F238E27FC236}">
                <a16:creationId xmlns:a16="http://schemas.microsoft.com/office/drawing/2014/main" id="{BEBF9763-BC31-91B9-B8D2-86925D4562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1342" y="363722"/>
            <a:ext cx="1336548" cy="70917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5" descr="UK Research and Innovation (UKRI) - CINUK">
            <a:extLst>
              <a:ext uri="{FF2B5EF4-FFF2-40B4-BE49-F238E27FC236}">
                <a16:creationId xmlns:a16="http://schemas.microsoft.com/office/drawing/2014/main" id="{CA4F47AE-E149-651F-D166-D3C7F06035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684" y="344082"/>
            <a:ext cx="2378964" cy="7012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4080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80FE1-1E17-7647-4212-B06846A434C6}"/>
              </a:ext>
            </a:extLst>
          </p:cNvPr>
          <p:cNvSpPr>
            <a:spLocks noGrp="1"/>
          </p:cNvSpPr>
          <p:nvPr>
            <p:ph type="title"/>
          </p:nvPr>
        </p:nvSpPr>
        <p:spPr/>
        <p:txBody>
          <a:bodyPr/>
          <a:lstStyle/>
          <a:p>
            <a:r>
              <a:rPr lang="en-GB" dirty="0"/>
              <a:t>Standalone Social Media Data in Research</a:t>
            </a:r>
          </a:p>
        </p:txBody>
      </p:sp>
      <p:sp>
        <p:nvSpPr>
          <p:cNvPr id="3" name="Content Placeholder 2">
            <a:extLst>
              <a:ext uri="{FF2B5EF4-FFF2-40B4-BE49-F238E27FC236}">
                <a16:creationId xmlns:a16="http://schemas.microsoft.com/office/drawing/2014/main" id="{84A131EA-D415-9FBB-C511-962A2B2E0865}"/>
              </a:ext>
            </a:extLst>
          </p:cNvPr>
          <p:cNvSpPr>
            <a:spLocks noGrp="1"/>
          </p:cNvSpPr>
          <p:nvPr>
            <p:ph idx="1"/>
          </p:nvPr>
        </p:nvSpPr>
        <p:spPr>
          <a:xfrm>
            <a:off x="838200" y="1825624"/>
            <a:ext cx="5617464" cy="4767199"/>
          </a:xfrm>
        </p:spPr>
        <p:txBody>
          <a:bodyPr>
            <a:normAutofit lnSpcReduction="10000"/>
          </a:bodyPr>
          <a:lstStyle/>
          <a:p>
            <a:r>
              <a:rPr lang="en-GB" sz="1800" dirty="0"/>
              <a:t>The use of social media data in research is now pervasive across many disciplines </a:t>
            </a:r>
            <a:r>
              <a:rPr lang="en-GB" sz="1200" dirty="0"/>
              <a:t>(</a:t>
            </a:r>
            <a:r>
              <a:rPr lang="en-GB" sz="1600" dirty="0"/>
              <a:t>As of 2020, there were over 110,000 research publications with the term “social media” in their title, </a:t>
            </a:r>
            <a:r>
              <a:rPr lang="en-GB" sz="1600" dirty="0" err="1"/>
              <a:t>Aichner</a:t>
            </a:r>
            <a:r>
              <a:rPr lang="en-GB" sz="1600" dirty="0"/>
              <a:t> et al. 2021)</a:t>
            </a:r>
          </a:p>
          <a:p>
            <a:endParaRPr lang="en-GB" sz="1600" dirty="0"/>
          </a:p>
          <a:p>
            <a:r>
              <a:rPr lang="en-GB" sz="1800" dirty="0"/>
              <a:t>Using SMD can offer several strengths over conventional data sources: </a:t>
            </a:r>
          </a:p>
          <a:p>
            <a:pPr marL="342900" indent="-342900">
              <a:buAutoNum type="arabicParenR"/>
            </a:pPr>
            <a:r>
              <a:rPr lang="en-GB" sz="1600" dirty="0"/>
              <a:t>Non-reactive </a:t>
            </a:r>
          </a:p>
          <a:p>
            <a:pPr marL="342900" indent="-342900">
              <a:buAutoNum type="arabicParenR"/>
            </a:pPr>
            <a:r>
              <a:rPr lang="en-GB" sz="1600" dirty="0"/>
              <a:t>Real-time analytics</a:t>
            </a:r>
          </a:p>
          <a:p>
            <a:pPr marL="342900" indent="-342900">
              <a:buAutoNum type="arabicParenR"/>
            </a:pPr>
            <a:r>
              <a:rPr lang="en-GB" sz="1600" dirty="0"/>
              <a:t>Publicly accessible (sometimes…)</a:t>
            </a:r>
          </a:p>
          <a:p>
            <a:pPr marL="342900" indent="-342900">
              <a:buAutoNum type="arabicParenR"/>
            </a:pPr>
            <a:r>
              <a:rPr lang="en-GB" sz="1600" dirty="0"/>
              <a:t>Vast and multimodal</a:t>
            </a:r>
          </a:p>
          <a:p>
            <a:pPr marL="342900" indent="-342900">
              <a:buAutoNum type="arabicParenR"/>
            </a:pPr>
            <a:r>
              <a:rPr lang="en-GB" sz="1600" dirty="0"/>
              <a:t>Unlock new insights</a:t>
            </a:r>
            <a:endParaRPr lang="en-GB" sz="1800" dirty="0"/>
          </a:p>
          <a:p>
            <a:pPr marL="342900" indent="-342900">
              <a:buAutoNum type="arabicParenR"/>
            </a:pPr>
            <a:endParaRPr lang="en-GB" sz="1800" dirty="0"/>
          </a:p>
          <a:p>
            <a:r>
              <a:rPr lang="en-GB" sz="1800" dirty="0"/>
              <a:t>A methodological testbed (comp sci), observational space (social sci, marketing), recruitment tool (survey research), or study object in and of itself</a:t>
            </a:r>
            <a:endParaRPr lang="en-GB" sz="1600" dirty="0"/>
          </a:p>
        </p:txBody>
      </p:sp>
      <p:pic>
        <p:nvPicPr>
          <p:cNvPr id="4" name="Picture 4" descr="Social media x Vectors - Download Free High-Quality Vectors ...">
            <a:extLst>
              <a:ext uri="{FF2B5EF4-FFF2-40B4-BE49-F238E27FC236}">
                <a16:creationId xmlns:a16="http://schemas.microsoft.com/office/drawing/2014/main" id="{AFC8E7D8-A445-00F1-8496-B7DB032EAE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672" y="1235075"/>
            <a:ext cx="5257800"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6114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D02AC-C8FF-E3A3-5A46-D7C0C816AA94}"/>
              </a:ext>
            </a:extLst>
          </p:cNvPr>
          <p:cNvSpPr>
            <a:spLocks noGrp="1"/>
          </p:cNvSpPr>
          <p:nvPr>
            <p:ph type="title"/>
          </p:nvPr>
        </p:nvSpPr>
        <p:spPr/>
        <p:txBody>
          <a:bodyPr/>
          <a:lstStyle/>
          <a:p>
            <a:r>
              <a:rPr lang="en-GB" dirty="0"/>
              <a:t>Working with Social Media Data (ELPs)</a:t>
            </a:r>
          </a:p>
        </p:txBody>
      </p:sp>
      <p:sp>
        <p:nvSpPr>
          <p:cNvPr id="4" name="TextBox 3">
            <a:extLst>
              <a:ext uri="{FF2B5EF4-FFF2-40B4-BE49-F238E27FC236}">
                <a16:creationId xmlns:a16="http://schemas.microsoft.com/office/drawing/2014/main" id="{28F6E608-5081-C62E-CDAB-95D258F6348B}"/>
              </a:ext>
            </a:extLst>
          </p:cNvPr>
          <p:cNvSpPr txBox="1"/>
          <p:nvPr/>
        </p:nvSpPr>
        <p:spPr>
          <a:xfrm>
            <a:off x="704088" y="1690688"/>
            <a:ext cx="11055096" cy="2677656"/>
          </a:xfrm>
          <a:prstGeom prst="rect">
            <a:avLst/>
          </a:prstGeom>
          <a:noFill/>
        </p:spPr>
        <p:txBody>
          <a:bodyPr wrap="square" rtlCol="0">
            <a:spAutoFit/>
          </a:bodyPr>
          <a:lstStyle/>
          <a:p>
            <a:r>
              <a:rPr lang="en-GB" sz="4000" b="1" dirty="0"/>
              <a:t>E</a:t>
            </a:r>
            <a:r>
              <a:rPr lang="en-GB" sz="2800" dirty="0"/>
              <a:t>thical </a:t>
            </a:r>
          </a:p>
          <a:p>
            <a:pPr marL="457200" indent="-457200">
              <a:buFontTx/>
              <a:buChar char="-"/>
            </a:pPr>
            <a:r>
              <a:rPr lang="en-GB" dirty="0"/>
              <a:t>How do we ensure voluntary participation and informed consent?</a:t>
            </a:r>
          </a:p>
          <a:p>
            <a:pPr marL="457200" indent="-457200">
              <a:buFontTx/>
              <a:buChar char="-"/>
            </a:pPr>
            <a:r>
              <a:rPr lang="en-GB" dirty="0"/>
              <a:t>How do we protect anonymity and confidentiality?</a:t>
            </a:r>
          </a:p>
          <a:p>
            <a:pPr marL="457200" indent="-457200">
              <a:buFontTx/>
              <a:buChar char="-"/>
            </a:pPr>
            <a:r>
              <a:rPr lang="en-GB" dirty="0"/>
              <a:t>How do we protect participants from the potential for harm?</a:t>
            </a:r>
          </a:p>
          <a:p>
            <a:endParaRPr lang="en-GB" sz="2800" dirty="0"/>
          </a:p>
          <a:p>
            <a:endParaRPr lang="en-GB" sz="4000" dirty="0"/>
          </a:p>
        </p:txBody>
      </p:sp>
      <p:sp>
        <p:nvSpPr>
          <p:cNvPr id="5" name="TextBox 4">
            <a:extLst>
              <a:ext uri="{FF2B5EF4-FFF2-40B4-BE49-F238E27FC236}">
                <a16:creationId xmlns:a16="http://schemas.microsoft.com/office/drawing/2014/main" id="{37931A2D-01DD-E360-EE89-A74BBF79367A}"/>
              </a:ext>
            </a:extLst>
          </p:cNvPr>
          <p:cNvSpPr txBox="1"/>
          <p:nvPr/>
        </p:nvSpPr>
        <p:spPr>
          <a:xfrm>
            <a:off x="704088" y="3260732"/>
            <a:ext cx="11055096" cy="2677656"/>
          </a:xfrm>
          <a:prstGeom prst="rect">
            <a:avLst/>
          </a:prstGeom>
          <a:noFill/>
        </p:spPr>
        <p:txBody>
          <a:bodyPr wrap="square" rtlCol="0">
            <a:spAutoFit/>
          </a:bodyPr>
          <a:lstStyle/>
          <a:p>
            <a:r>
              <a:rPr lang="en-GB" sz="4000" b="1" dirty="0"/>
              <a:t>L</a:t>
            </a:r>
            <a:r>
              <a:rPr lang="en-GB" sz="2800" dirty="0"/>
              <a:t>egal</a:t>
            </a:r>
          </a:p>
          <a:p>
            <a:pPr marL="457200" indent="-457200">
              <a:buFontTx/>
              <a:buChar char="-"/>
            </a:pPr>
            <a:r>
              <a:rPr lang="en-GB" dirty="0"/>
              <a:t>What are the relevant laws relating to the collection, use, archiving and sharing of social media data?</a:t>
            </a:r>
          </a:p>
          <a:p>
            <a:pPr marL="457200" indent="-457200">
              <a:buFontTx/>
              <a:buChar char="-"/>
            </a:pPr>
            <a:r>
              <a:rPr lang="en-GB" dirty="0"/>
              <a:t>What are the relevant national and international data protection legislation? </a:t>
            </a:r>
          </a:p>
          <a:p>
            <a:pPr marL="457200" indent="-457200">
              <a:buFontTx/>
              <a:buChar char="-"/>
            </a:pPr>
            <a:r>
              <a:rPr lang="en-GB" dirty="0"/>
              <a:t>EU/UK GDPR, California’s CCPA, Canada’s PIPEDA, Kenya’s DPA, Sweden’s DA etc.</a:t>
            </a:r>
          </a:p>
          <a:p>
            <a:endParaRPr lang="en-GB" sz="2800" dirty="0"/>
          </a:p>
          <a:p>
            <a:endParaRPr lang="en-GB" sz="4000" dirty="0"/>
          </a:p>
        </p:txBody>
      </p:sp>
      <p:sp>
        <p:nvSpPr>
          <p:cNvPr id="6" name="TextBox 5">
            <a:extLst>
              <a:ext uri="{FF2B5EF4-FFF2-40B4-BE49-F238E27FC236}">
                <a16:creationId xmlns:a16="http://schemas.microsoft.com/office/drawing/2014/main" id="{2C29F9BB-4EE7-332B-6CD0-45583DF71DE7}"/>
              </a:ext>
            </a:extLst>
          </p:cNvPr>
          <p:cNvSpPr txBox="1"/>
          <p:nvPr/>
        </p:nvSpPr>
        <p:spPr>
          <a:xfrm>
            <a:off x="704088" y="4967711"/>
            <a:ext cx="11055096" cy="1538883"/>
          </a:xfrm>
          <a:prstGeom prst="rect">
            <a:avLst/>
          </a:prstGeom>
          <a:noFill/>
        </p:spPr>
        <p:txBody>
          <a:bodyPr wrap="square" rtlCol="0">
            <a:spAutoFit/>
          </a:bodyPr>
          <a:lstStyle/>
          <a:p>
            <a:r>
              <a:rPr lang="en-GB" sz="4000" b="1" dirty="0"/>
              <a:t>P</a:t>
            </a:r>
            <a:r>
              <a:rPr lang="en-GB" sz="2800" dirty="0"/>
              <a:t>latform-</a:t>
            </a:r>
            <a:r>
              <a:rPr lang="en-GB" sz="2800" b="1" dirty="0"/>
              <a:t>s</a:t>
            </a:r>
            <a:r>
              <a:rPr lang="en-GB" sz="2800" dirty="0"/>
              <a:t>pecific</a:t>
            </a:r>
          </a:p>
          <a:p>
            <a:pPr marL="457200" indent="-457200">
              <a:buFontTx/>
              <a:buChar char="-"/>
            </a:pPr>
            <a:r>
              <a:rPr lang="en-GB" dirty="0"/>
              <a:t>What are the specific Terms of Service for developers on each social media platform?</a:t>
            </a:r>
          </a:p>
          <a:p>
            <a:pPr marL="457200" indent="-457200">
              <a:buFontTx/>
              <a:buChar char="-"/>
            </a:pPr>
            <a:r>
              <a:rPr lang="en-GB" dirty="0"/>
              <a:t>What are their rules on collection, use, archiving and sharing of their data?</a:t>
            </a:r>
          </a:p>
          <a:p>
            <a:pPr marL="457200" indent="-457200">
              <a:buFontTx/>
              <a:buChar char="-"/>
            </a:pPr>
            <a:r>
              <a:rPr lang="en-GB" dirty="0"/>
              <a:t>How do these terms interact with the relevant ethical and legal considerations?</a:t>
            </a:r>
          </a:p>
        </p:txBody>
      </p:sp>
    </p:spTree>
    <p:extLst>
      <p:ext uri="{BB962C8B-B14F-4D97-AF65-F5344CB8AC3E}">
        <p14:creationId xmlns:p14="http://schemas.microsoft.com/office/powerpoint/2010/main" val="3448445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8A1C9-FF96-F60F-E80F-430384519C35}"/>
              </a:ext>
            </a:extLst>
          </p:cNvPr>
          <p:cNvSpPr>
            <a:spLocks noGrp="1"/>
          </p:cNvSpPr>
          <p:nvPr>
            <p:ph type="title"/>
          </p:nvPr>
        </p:nvSpPr>
        <p:spPr/>
        <p:txBody>
          <a:bodyPr/>
          <a:lstStyle/>
          <a:p>
            <a:r>
              <a:rPr lang="en-GB" dirty="0"/>
              <a:t>User Expectations</a:t>
            </a:r>
          </a:p>
        </p:txBody>
      </p:sp>
      <p:sp>
        <p:nvSpPr>
          <p:cNvPr id="3" name="Content Placeholder 2">
            <a:extLst>
              <a:ext uri="{FF2B5EF4-FFF2-40B4-BE49-F238E27FC236}">
                <a16:creationId xmlns:a16="http://schemas.microsoft.com/office/drawing/2014/main" id="{EAB28481-CA5E-BA2D-947E-9693A1346E55}"/>
              </a:ext>
            </a:extLst>
          </p:cNvPr>
          <p:cNvSpPr>
            <a:spLocks noGrp="1"/>
          </p:cNvSpPr>
          <p:nvPr>
            <p:ph idx="1"/>
          </p:nvPr>
        </p:nvSpPr>
        <p:spPr/>
        <p:txBody>
          <a:bodyPr>
            <a:normAutofit lnSpcReduction="10000"/>
          </a:bodyPr>
          <a:lstStyle/>
          <a:p>
            <a:r>
              <a:rPr lang="en-GB" sz="1800" dirty="0"/>
              <a:t>Recent high-profile controversies around online data sharing and use of SMD for research have increased public concern for how digital data is used (Fiesler and Hallinan, 2018; Hallinan et al., 2020).</a:t>
            </a:r>
          </a:p>
          <a:p>
            <a:endParaRPr lang="en-GB" sz="1800" dirty="0"/>
          </a:p>
          <a:p>
            <a:endParaRPr lang="en-GB" sz="1800" dirty="0"/>
          </a:p>
          <a:p>
            <a:endParaRPr lang="en-GB" sz="1800" dirty="0"/>
          </a:p>
          <a:p>
            <a:endParaRPr lang="en-GB" sz="1800" dirty="0"/>
          </a:p>
          <a:p>
            <a:pPr marL="0" indent="0">
              <a:buNone/>
            </a:pPr>
            <a:endParaRPr lang="en-GB" sz="1800" dirty="0"/>
          </a:p>
          <a:p>
            <a:pPr marL="0" indent="0">
              <a:buNone/>
            </a:pPr>
            <a:endParaRPr lang="en-GB" sz="1800" dirty="0"/>
          </a:p>
          <a:p>
            <a:r>
              <a:rPr lang="en-GB" sz="1800" dirty="0"/>
              <a:t>SMD seen as moderately sensitive relative to other personal data (health, demographics etc.) but still prefer consent before using it </a:t>
            </a:r>
            <a:r>
              <a:rPr lang="en-GB" sz="1600" dirty="0">
                <a:solidFill>
                  <a:schemeClr val="bg2">
                    <a:lumMod val="75000"/>
                  </a:schemeClr>
                </a:solidFill>
              </a:rPr>
              <a:t>(Hemphill et al., 2022). </a:t>
            </a:r>
          </a:p>
          <a:p>
            <a:endParaRPr lang="en-GB" sz="1600" dirty="0">
              <a:solidFill>
                <a:schemeClr val="bg2">
                  <a:lumMod val="75000"/>
                </a:schemeClr>
              </a:solidFill>
            </a:endParaRPr>
          </a:p>
          <a:p>
            <a:r>
              <a:rPr lang="en-GB" sz="1800" b="1" dirty="0"/>
              <a:t>4 in 5 </a:t>
            </a:r>
            <a:r>
              <a:rPr lang="en-GB" sz="1800" dirty="0"/>
              <a:t>expect to be asked for consent before their SMD is used, </a:t>
            </a:r>
            <a:r>
              <a:rPr lang="en-GB" sz="1800" b="1" dirty="0"/>
              <a:t>9 in 10 </a:t>
            </a:r>
            <a:r>
              <a:rPr lang="en-GB" sz="1800" dirty="0"/>
              <a:t>expect it to be anonymised before publication </a:t>
            </a:r>
            <a:r>
              <a:rPr lang="en-GB" sz="1600" dirty="0">
                <a:solidFill>
                  <a:schemeClr val="bg2">
                    <a:lumMod val="75000"/>
                  </a:schemeClr>
                </a:solidFill>
              </a:rPr>
              <a:t>(Williams et al. 2017)</a:t>
            </a:r>
          </a:p>
          <a:p>
            <a:endParaRPr lang="en-GB" sz="1600" dirty="0">
              <a:solidFill>
                <a:schemeClr val="bg2">
                  <a:lumMod val="75000"/>
                </a:schemeClr>
              </a:solidFill>
            </a:endParaRPr>
          </a:p>
          <a:p>
            <a:endParaRPr lang="en-GB" sz="1600" dirty="0">
              <a:solidFill>
                <a:schemeClr val="bg2">
                  <a:lumMod val="75000"/>
                </a:schemeClr>
              </a:solidFill>
            </a:endParaRPr>
          </a:p>
          <a:p>
            <a:endParaRPr lang="en-GB" sz="1600" dirty="0">
              <a:solidFill>
                <a:schemeClr val="bg2">
                  <a:lumMod val="75000"/>
                </a:schemeClr>
              </a:solidFill>
            </a:endParaRPr>
          </a:p>
          <a:p>
            <a:endParaRPr lang="en-GB" sz="1800" dirty="0"/>
          </a:p>
          <a:p>
            <a:pPr marL="0" indent="0">
              <a:buNone/>
            </a:pPr>
            <a:endParaRPr lang="en-GB" sz="1800" dirty="0"/>
          </a:p>
          <a:p>
            <a:pPr>
              <a:buFontTx/>
              <a:buChar char="-"/>
            </a:pPr>
            <a:endParaRPr lang="en-GB" sz="1800" dirty="0"/>
          </a:p>
          <a:p>
            <a:pPr marL="0" indent="0">
              <a:buNone/>
            </a:pPr>
            <a:endParaRPr lang="en-GB" sz="1800" dirty="0"/>
          </a:p>
        </p:txBody>
      </p:sp>
      <p:sp>
        <p:nvSpPr>
          <p:cNvPr id="4" name="AutoShape 2" descr="Cambridge Analytica - Wikipedia">
            <a:extLst>
              <a:ext uri="{FF2B5EF4-FFF2-40B4-BE49-F238E27FC236}">
                <a16:creationId xmlns:a16="http://schemas.microsoft.com/office/drawing/2014/main" id="{4E86F493-A0D3-BE67-92EA-CC089988EEE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6" descr="After Cambridge Analytica, there is nowhere to hide">
            <a:extLst>
              <a:ext uri="{FF2B5EF4-FFF2-40B4-BE49-F238E27FC236}">
                <a16:creationId xmlns:a16="http://schemas.microsoft.com/office/drawing/2014/main" id="{31EF4A17-2332-964D-6A21-55078CAC635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8" name="Picture 7">
            <a:extLst>
              <a:ext uri="{FF2B5EF4-FFF2-40B4-BE49-F238E27FC236}">
                <a16:creationId xmlns:a16="http://schemas.microsoft.com/office/drawing/2014/main" id="{F1818786-1359-DE01-2A7E-6D06126AC6A9}"/>
              </a:ext>
            </a:extLst>
          </p:cNvPr>
          <p:cNvPicPr>
            <a:picLocks noChangeAspect="1"/>
          </p:cNvPicPr>
          <p:nvPr/>
        </p:nvPicPr>
        <p:blipFill>
          <a:blip r:embed="rId2"/>
          <a:stretch>
            <a:fillRect/>
          </a:stretch>
        </p:blipFill>
        <p:spPr>
          <a:xfrm>
            <a:off x="838200" y="2536031"/>
            <a:ext cx="2381249" cy="1785937"/>
          </a:xfrm>
          <a:prstGeom prst="rect">
            <a:avLst/>
          </a:prstGeom>
        </p:spPr>
      </p:pic>
      <p:pic>
        <p:nvPicPr>
          <p:cNvPr id="9" name="Picture 8">
            <a:extLst>
              <a:ext uri="{FF2B5EF4-FFF2-40B4-BE49-F238E27FC236}">
                <a16:creationId xmlns:a16="http://schemas.microsoft.com/office/drawing/2014/main" id="{9EC6DC60-DB7E-1A17-03A8-E209FD923A97}"/>
              </a:ext>
            </a:extLst>
          </p:cNvPr>
          <p:cNvPicPr>
            <a:picLocks noChangeAspect="1"/>
          </p:cNvPicPr>
          <p:nvPr/>
        </p:nvPicPr>
        <p:blipFill>
          <a:blip r:embed="rId3"/>
          <a:stretch>
            <a:fillRect/>
          </a:stretch>
        </p:blipFill>
        <p:spPr>
          <a:xfrm>
            <a:off x="4061840" y="2817426"/>
            <a:ext cx="3763519" cy="1223144"/>
          </a:xfrm>
          <a:prstGeom prst="rect">
            <a:avLst/>
          </a:prstGeom>
        </p:spPr>
      </p:pic>
      <p:pic>
        <p:nvPicPr>
          <p:cNvPr id="10" name="Picture 9">
            <a:extLst>
              <a:ext uri="{FF2B5EF4-FFF2-40B4-BE49-F238E27FC236}">
                <a16:creationId xmlns:a16="http://schemas.microsoft.com/office/drawing/2014/main" id="{C2866C55-E443-A93D-2042-AE5AA756DD67}"/>
              </a:ext>
            </a:extLst>
          </p:cNvPr>
          <p:cNvPicPr>
            <a:picLocks noChangeAspect="1"/>
          </p:cNvPicPr>
          <p:nvPr/>
        </p:nvPicPr>
        <p:blipFill>
          <a:blip r:embed="rId4"/>
          <a:stretch>
            <a:fillRect/>
          </a:stretch>
        </p:blipFill>
        <p:spPr>
          <a:xfrm>
            <a:off x="8185831" y="2526885"/>
            <a:ext cx="3244169" cy="1705167"/>
          </a:xfrm>
          <a:prstGeom prst="rect">
            <a:avLst/>
          </a:prstGeom>
        </p:spPr>
      </p:pic>
    </p:spTree>
    <p:extLst>
      <p:ext uri="{BB962C8B-B14F-4D97-AF65-F5344CB8AC3E}">
        <p14:creationId xmlns:p14="http://schemas.microsoft.com/office/powerpoint/2010/main" val="1682884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AB5F7-7EFD-C4B9-9CBC-62ADA8BEAE9C}"/>
              </a:ext>
            </a:extLst>
          </p:cNvPr>
          <p:cNvSpPr>
            <a:spLocks noGrp="1"/>
          </p:cNvSpPr>
          <p:nvPr>
            <p:ph type="title"/>
          </p:nvPr>
        </p:nvSpPr>
        <p:spPr/>
        <p:txBody>
          <a:bodyPr/>
          <a:lstStyle/>
          <a:p>
            <a:r>
              <a:rPr lang="en-GB" dirty="0"/>
              <a:t>The “Third Era” of Survey Research</a:t>
            </a:r>
          </a:p>
        </p:txBody>
      </p:sp>
      <p:sp>
        <p:nvSpPr>
          <p:cNvPr id="3" name="Content Placeholder 2">
            <a:extLst>
              <a:ext uri="{FF2B5EF4-FFF2-40B4-BE49-F238E27FC236}">
                <a16:creationId xmlns:a16="http://schemas.microsoft.com/office/drawing/2014/main" id="{D0170677-51B1-DC39-038E-23C02EAEB517}"/>
              </a:ext>
            </a:extLst>
          </p:cNvPr>
          <p:cNvSpPr>
            <a:spLocks noGrp="1"/>
          </p:cNvSpPr>
          <p:nvPr>
            <p:ph idx="1"/>
          </p:nvPr>
        </p:nvSpPr>
        <p:spPr/>
        <p:txBody>
          <a:bodyPr>
            <a:normAutofit fontScale="92500" lnSpcReduction="10000"/>
          </a:bodyPr>
          <a:lstStyle/>
          <a:p>
            <a:r>
              <a:rPr lang="en-GB" sz="2000" dirty="0">
                <a:latin typeface="+mj-lt"/>
              </a:rPr>
              <a:t>Survey research is entering a new era of development which centres on its linkage with other forms of observed or digitally generated data </a:t>
            </a:r>
            <a:r>
              <a:rPr lang="en-GB" sz="1800" dirty="0">
                <a:solidFill>
                  <a:schemeClr val="bg2">
                    <a:lumMod val="75000"/>
                  </a:schemeClr>
                </a:solidFill>
                <a:latin typeface="+mj-lt"/>
              </a:rPr>
              <a:t>(Groves, 2011)</a:t>
            </a:r>
          </a:p>
          <a:p>
            <a:endParaRPr lang="en-GB" sz="2000" dirty="0">
              <a:latin typeface="+mj-lt"/>
            </a:endParaRPr>
          </a:p>
          <a:p>
            <a:r>
              <a:rPr lang="en-GB" sz="2000" dirty="0">
                <a:latin typeface="+mj-lt"/>
              </a:rPr>
              <a:t>One of the fastest growing areas of this new research agenda within social science is the augmentation of survey data with digital trace data </a:t>
            </a:r>
            <a:r>
              <a:rPr lang="en-GB" sz="1800" dirty="0">
                <a:solidFill>
                  <a:schemeClr val="bg2">
                    <a:lumMod val="75000"/>
                  </a:schemeClr>
                </a:solidFill>
                <a:latin typeface="+mj-lt"/>
              </a:rPr>
              <a:t>(Guess et al., 2019; Eady et al., 2019; Stier et al. 2020a, 2020b; Silber et al., 2022)</a:t>
            </a:r>
            <a:endParaRPr lang="en-GB" sz="1800" dirty="0">
              <a:solidFill>
                <a:schemeClr val="bg2">
                  <a:lumMod val="75000"/>
                </a:schemeClr>
              </a:solidFill>
              <a:effectLst/>
              <a:latin typeface="+mj-lt"/>
            </a:endParaRPr>
          </a:p>
          <a:p>
            <a:endParaRPr lang="en-GB" sz="2000" dirty="0"/>
          </a:p>
          <a:p>
            <a:r>
              <a:rPr lang="en-GB" sz="2000" dirty="0">
                <a:latin typeface="+mj-lt"/>
              </a:rPr>
              <a:t>Of these DTD, social media data (SMD) has been an especially popular information source for social scientists given its public accessibility, allowing researchers to study human networks and behaviours in real-time and on a massive scale</a:t>
            </a:r>
          </a:p>
          <a:p>
            <a:endParaRPr lang="en-GB" sz="2200" dirty="0">
              <a:latin typeface="+mj-lt"/>
            </a:endParaRPr>
          </a:p>
          <a:p>
            <a:r>
              <a:rPr lang="en-GB" sz="2200" dirty="0">
                <a:latin typeface="+mj-lt"/>
              </a:rPr>
              <a:t>The eagerness of researchers to collect data from social media platforms has vastly outpaced the adaptation of our traditional ethical frameworks in social science and this needs to be addressed </a:t>
            </a:r>
            <a:r>
              <a:rPr lang="en-GB" sz="1800" dirty="0">
                <a:solidFill>
                  <a:schemeClr val="bg2">
                    <a:lumMod val="75000"/>
                  </a:schemeClr>
                </a:solidFill>
                <a:latin typeface="+mj-lt"/>
              </a:rPr>
              <a:t>(Sloan et al., 2020; Webb et al. 2017; Williams et al., 2017)</a:t>
            </a:r>
          </a:p>
          <a:p>
            <a:endParaRPr lang="en-GB" sz="2000" dirty="0"/>
          </a:p>
          <a:p>
            <a:endParaRPr lang="en-GB" sz="2000" dirty="0"/>
          </a:p>
          <a:p>
            <a:endParaRPr lang="en-GB" sz="2000" dirty="0">
              <a:latin typeface="+mj-lt"/>
            </a:endParaRPr>
          </a:p>
          <a:p>
            <a:endParaRPr lang="en-GB" sz="2000" dirty="0">
              <a:latin typeface="+mj-lt"/>
            </a:endParaRPr>
          </a:p>
        </p:txBody>
      </p:sp>
    </p:spTree>
    <p:extLst>
      <p:ext uri="{BB962C8B-B14F-4D97-AF65-F5344CB8AC3E}">
        <p14:creationId xmlns:p14="http://schemas.microsoft.com/office/powerpoint/2010/main" val="1207572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26AA487-71FF-8D16-2D56-D62B5D299440}"/>
              </a:ext>
            </a:extLst>
          </p:cNvPr>
          <p:cNvGrpSpPr/>
          <p:nvPr/>
        </p:nvGrpSpPr>
        <p:grpSpPr>
          <a:xfrm>
            <a:off x="2735143" y="0"/>
            <a:ext cx="7213529" cy="3394217"/>
            <a:chOff x="2533975" y="284273"/>
            <a:chExt cx="7383363" cy="3530568"/>
          </a:xfrm>
        </p:grpSpPr>
        <p:pic>
          <p:nvPicPr>
            <p:cNvPr id="4" name="Picture 2" descr="Survey Icon. Icon related to survey. line icon style. Simple ...">
              <a:extLst>
                <a:ext uri="{FF2B5EF4-FFF2-40B4-BE49-F238E27FC236}">
                  <a16:creationId xmlns:a16="http://schemas.microsoft.com/office/drawing/2014/main" id="{410F177D-D43D-4B36-AAFE-C25658C0F9F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019" r="25910"/>
            <a:stretch>
              <a:fillRect/>
            </a:stretch>
          </p:blipFill>
          <p:spPr bwMode="auto">
            <a:xfrm>
              <a:off x="2533975" y="1033905"/>
              <a:ext cx="1683110" cy="228663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ocial media x Vectors - Download Free High-Quality Vectors ...">
              <a:extLst>
                <a:ext uri="{FF2B5EF4-FFF2-40B4-BE49-F238E27FC236}">
                  <a16:creationId xmlns:a16="http://schemas.microsoft.com/office/drawing/2014/main" id="{1EABA752-F7A0-F715-0935-FC4EB9A716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6770" y="284273"/>
              <a:ext cx="3530568" cy="353056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a:extLst>
                <a:ext uri="{FF2B5EF4-FFF2-40B4-BE49-F238E27FC236}">
                  <a16:creationId xmlns:a16="http://schemas.microsoft.com/office/drawing/2014/main" id="{7F151947-8AC7-5057-7A5C-9161EF493B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0184" y="1819972"/>
              <a:ext cx="717807" cy="714499"/>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81FFD559-0C35-EFEE-E343-A66413D0BA93}"/>
                </a:ext>
              </a:extLst>
            </p:cNvPr>
            <p:cNvCxnSpPr>
              <a:stCxn id="4" idx="3"/>
              <a:endCxn id="6" idx="1"/>
            </p:cNvCxnSpPr>
            <p:nvPr/>
          </p:nvCxnSpPr>
          <p:spPr>
            <a:xfrm flipV="1">
              <a:off x="4217085" y="2177222"/>
              <a:ext cx="86309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997BC149-E4D1-A1D9-4A6B-DF308909AD88}"/>
                </a:ext>
              </a:extLst>
            </p:cNvPr>
            <p:cNvCxnSpPr>
              <a:cxnSpLocks/>
              <a:endCxn id="6" idx="3"/>
            </p:cNvCxnSpPr>
            <p:nvPr/>
          </p:nvCxnSpPr>
          <p:spPr>
            <a:xfrm flipH="1">
              <a:off x="5797991" y="2177222"/>
              <a:ext cx="86309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cxnSp>
        <p:nvCxnSpPr>
          <p:cNvPr id="11" name="Straight Connector 10">
            <a:extLst>
              <a:ext uri="{FF2B5EF4-FFF2-40B4-BE49-F238E27FC236}">
                <a16:creationId xmlns:a16="http://schemas.microsoft.com/office/drawing/2014/main" id="{6E3CC528-0C53-A58B-454B-F195F4780D7F}"/>
              </a:ext>
            </a:extLst>
          </p:cNvPr>
          <p:cNvCxnSpPr/>
          <p:nvPr/>
        </p:nvCxnSpPr>
        <p:spPr>
          <a:xfrm>
            <a:off x="5564287" y="2919006"/>
            <a:ext cx="0" cy="3701250"/>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EB53B559-D684-9E8C-AE0D-68CB535B0C4F}"/>
              </a:ext>
            </a:extLst>
          </p:cNvPr>
          <p:cNvCxnSpPr/>
          <p:nvPr/>
        </p:nvCxnSpPr>
        <p:spPr>
          <a:xfrm>
            <a:off x="576072" y="3694176"/>
            <a:ext cx="11411712" cy="0"/>
          </a:xfrm>
          <a:prstGeom prst="line">
            <a:avLst/>
          </a:prstGeom>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5E1BCC79-A714-A9E1-A89E-07BDCFE84F8C}"/>
              </a:ext>
            </a:extLst>
          </p:cNvPr>
          <p:cNvSpPr txBox="1"/>
          <p:nvPr/>
        </p:nvSpPr>
        <p:spPr>
          <a:xfrm>
            <a:off x="896112" y="3246120"/>
            <a:ext cx="4326671" cy="369332"/>
          </a:xfrm>
          <a:prstGeom prst="rect">
            <a:avLst/>
          </a:prstGeom>
          <a:noFill/>
        </p:spPr>
        <p:txBody>
          <a:bodyPr wrap="square" rtlCol="0">
            <a:spAutoFit/>
          </a:bodyPr>
          <a:lstStyle/>
          <a:p>
            <a:r>
              <a:rPr lang="en-GB" b="1" dirty="0"/>
              <a:t>Strengths</a:t>
            </a:r>
          </a:p>
        </p:txBody>
      </p:sp>
      <p:sp>
        <p:nvSpPr>
          <p:cNvPr id="15" name="TextBox 14">
            <a:extLst>
              <a:ext uri="{FF2B5EF4-FFF2-40B4-BE49-F238E27FC236}">
                <a16:creationId xmlns:a16="http://schemas.microsoft.com/office/drawing/2014/main" id="{C3F95E6F-98BA-DD4A-E379-B618CFA295AE}"/>
              </a:ext>
            </a:extLst>
          </p:cNvPr>
          <p:cNvSpPr txBox="1"/>
          <p:nvPr/>
        </p:nvSpPr>
        <p:spPr>
          <a:xfrm>
            <a:off x="5905792" y="3224791"/>
            <a:ext cx="4326671" cy="369332"/>
          </a:xfrm>
          <a:prstGeom prst="rect">
            <a:avLst/>
          </a:prstGeom>
          <a:noFill/>
        </p:spPr>
        <p:txBody>
          <a:bodyPr wrap="square" rtlCol="0">
            <a:spAutoFit/>
          </a:bodyPr>
          <a:lstStyle/>
          <a:p>
            <a:r>
              <a:rPr lang="en-GB" b="1" dirty="0"/>
              <a:t>Weaknesses</a:t>
            </a:r>
          </a:p>
        </p:txBody>
      </p:sp>
      <p:pic>
        <p:nvPicPr>
          <p:cNvPr id="16" name="Picture 2" descr="28,000+ Green Check Mark Stock Illustrations, Royalty-Free Vector Graphics  &amp; Clip Art - iStock">
            <a:extLst>
              <a:ext uri="{FF2B5EF4-FFF2-40B4-BE49-F238E27FC236}">
                <a16:creationId xmlns:a16="http://schemas.microsoft.com/office/drawing/2014/main" id="{86A779FD-91C3-1832-CDBC-1679834270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943" y="3801010"/>
            <a:ext cx="668337" cy="66833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28,000+ Green Check Mark Stock Illustrations, Royalty-Free Vector Graphics  &amp; Clip Art - iStock">
            <a:extLst>
              <a:ext uri="{FF2B5EF4-FFF2-40B4-BE49-F238E27FC236}">
                <a16:creationId xmlns:a16="http://schemas.microsoft.com/office/drawing/2014/main" id="{DC4CF9CA-50F1-B66D-7B8C-DF4A9145FD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942" y="4576180"/>
            <a:ext cx="668337" cy="66833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28,000+ Green Check Mark Stock Illustrations, Royalty-Free Vector Graphics  &amp; Clip Art - iStock">
            <a:extLst>
              <a:ext uri="{FF2B5EF4-FFF2-40B4-BE49-F238E27FC236}">
                <a16:creationId xmlns:a16="http://schemas.microsoft.com/office/drawing/2014/main" id="{7110DA6E-5D4E-B172-3E95-1A358FAD2B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941" y="5351350"/>
            <a:ext cx="668337" cy="66833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Simple red cross mark icon. Vector. 26529438 Vector Art at Vecteezy">
            <a:extLst>
              <a:ext uri="{FF2B5EF4-FFF2-40B4-BE49-F238E27FC236}">
                <a16:creationId xmlns:a16="http://schemas.microsoft.com/office/drawing/2014/main" id="{5D3F24B7-5874-7686-3388-F4C68D1C33A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18502" y="3911766"/>
            <a:ext cx="463426" cy="44682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Simple red cross mark icon. Vector. 26529438 Vector Art at Vecteezy">
            <a:extLst>
              <a:ext uri="{FF2B5EF4-FFF2-40B4-BE49-F238E27FC236}">
                <a16:creationId xmlns:a16="http://schemas.microsoft.com/office/drawing/2014/main" id="{D3EDD9E0-6086-5FDE-3A16-F5BB1A1A2A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00088" y="4686936"/>
            <a:ext cx="463426" cy="44682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Simple red cross mark icon. Vector. 26529438 Vector Art at Vecteezy">
            <a:extLst>
              <a:ext uri="{FF2B5EF4-FFF2-40B4-BE49-F238E27FC236}">
                <a16:creationId xmlns:a16="http://schemas.microsoft.com/office/drawing/2014/main" id="{2501BE26-E6EA-6E68-4F45-101B6B0FA8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18502" y="5462106"/>
            <a:ext cx="463426" cy="446823"/>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71B5860B-D336-B8E7-179B-4DEE9BD7F5DA}"/>
              </a:ext>
            </a:extLst>
          </p:cNvPr>
          <p:cNvSpPr txBox="1"/>
          <p:nvPr/>
        </p:nvSpPr>
        <p:spPr>
          <a:xfrm>
            <a:off x="1230278" y="3941671"/>
            <a:ext cx="3892879" cy="369332"/>
          </a:xfrm>
          <a:prstGeom prst="rect">
            <a:avLst/>
          </a:prstGeom>
          <a:noFill/>
        </p:spPr>
        <p:txBody>
          <a:bodyPr wrap="square" rtlCol="0">
            <a:spAutoFit/>
          </a:bodyPr>
          <a:lstStyle/>
          <a:p>
            <a:r>
              <a:rPr lang="en-GB" dirty="0"/>
              <a:t>Value imputation</a:t>
            </a:r>
          </a:p>
        </p:txBody>
      </p:sp>
      <p:sp>
        <p:nvSpPr>
          <p:cNvPr id="25" name="TextBox 24">
            <a:extLst>
              <a:ext uri="{FF2B5EF4-FFF2-40B4-BE49-F238E27FC236}">
                <a16:creationId xmlns:a16="http://schemas.microsoft.com/office/drawing/2014/main" id="{297D5C6D-8838-4B9B-4F1C-54526A966B04}"/>
              </a:ext>
            </a:extLst>
          </p:cNvPr>
          <p:cNvSpPr txBox="1"/>
          <p:nvPr/>
        </p:nvSpPr>
        <p:spPr>
          <a:xfrm>
            <a:off x="1230278" y="4725681"/>
            <a:ext cx="3892879" cy="369332"/>
          </a:xfrm>
          <a:prstGeom prst="rect">
            <a:avLst/>
          </a:prstGeom>
          <a:noFill/>
        </p:spPr>
        <p:txBody>
          <a:bodyPr wrap="square" rtlCol="0">
            <a:spAutoFit/>
          </a:bodyPr>
          <a:lstStyle/>
          <a:p>
            <a:r>
              <a:rPr lang="en-GB" dirty="0"/>
              <a:t>Assess measurement error</a:t>
            </a:r>
          </a:p>
        </p:txBody>
      </p:sp>
      <p:sp>
        <p:nvSpPr>
          <p:cNvPr id="26" name="TextBox 25">
            <a:extLst>
              <a:ext uri="{FF2B5EF4-FFF2-40B4-BE49-F238E27FC236}">
                <a16:creationId xmlns:a16="http://schemas.microsoft.com/office/drawing/2014/main" id="{D50B84F9-9451-2302-08A5-2731A542F97E}"/>
              </a:ext>
            </a:extLst>
          </p:cNvPr>
          <p:cNvSpPr txBox="1"/>
          <p:nvPr/>
        </p:nvSpPr>
        <p:spPr>
          <a:xfrm>
            <a:off x="1230277" y="5500851"/>
            <a:ext cx="3892879" cy="369332"/>
          </a:xfrm>
          <a:prstGeom prst="rect">
            <a:avLst/>
          </a:prstGeom>
          <a:noFill/>
        </p:spPr>
        <p:txBody>
          <a:bodyPr wrap="square" rtlCol="0">
            <a:spAutoFit/>
          </a:bodyPr>
          <a:lstStyle/>
          <a:p>
            <a:r>
              <a:rPr lang="en-GB" dirty="0"/>
              <a:t>Reach “harder-to-reach” populations</a:t>
            </a:r>
          </a:p>
        </p:txBody>
      </p:sp>
      <p:sp>
        <p:nvSpPr>
          <p:cNvPr id="27" name="TextBox 26">
            <a:extLst>
              <a:ext uri="{FF2B5EF4-FFF2-40B4-BE49-F238E27FC236}">
                <a16:creationId xmlns:a16="http://schemas.microsoft.com/office/drawing/2014/main" id="{D0D4DD85-ACA8-7CA9-9694-D067D7BD9B67}"/>
              </a:ext>
            </a:extLst>
          </p:cNvPr>
          <p:cNvSpPr txBox="1"/>
          <p:nvPr/>
        </p:nvSpPr>
        <p:spPr>
          <a:xfrm>
            <a:off x="6339584" y="3951422"/>
            <a:ext cx="3892879" cy="369332"/>
          </a:xfrm>
          <a:prstGeom prst="rect">
            <a:avLst/>
          </a:prstGeom>
          <a:noFill/>
        </p:spPr>
        <p:txBody>
          <a:bodyPr wrap="square" rtlCol="0">
            <a:spAutoFit/>
          </a:bodyPr>
          <a:lstStyle/>
          <a:p>
            <a:r>
              <a:rPr lang="en-GB" dirty="0"/>
              <a:t>Can introduce new biases</a:t>
            </a:r>
          </a:p>
        </p:txBody>
      </p:sp>
      <p:sp>
        <p:nvSpPr>
          <p:cNvPr id="28" name="TextBox 27">
            <a:extLst>
              <a:ext uri="{FF2B5EF4-FFF2-40B4-BE49-F238E27FC236}">
                <a16:creationId xmlns:a16="http://schemas.microsoft.com/office/drawing/2014/main" id="{08B0EBC1-B343-AC2C-EA98-B7AB60BF230F}"/>
              </a:ext>
            </a:extLst>
          </p:cNvPr>
          <p:cNvSpPr txBox="1"/>
          <p:nvPr/>
        </p:nvSpPr>
        <p:spPr>
          <a:xfrm>
            <a:off x="6345702" y="4698799"/>
            <a:ext cx="4502040" cy="369332"/>
          </a:xfrm>
          <a:prstGeom prst="rect">
            <a:avLst/>
          </a:prstGeom>
          <a:noFill/>
        </p:spPr>
        <p:txBody>
          <a:bodyPr wrap="square" rtlCol="0">
            <a:spAutoFit/>
          </a:bodyPr>
          <a:lstStyle/>
          <a:p>
            <a:r>
              <a:rPr lang="en-GB" dirty="0"/>
              <a:t>Asymmetries in data quality and quantity </a:t>
            </a:r>
          </a:p>
        </p:txBody>
      </p:sp>
      <p:sp>
        <p:nvSpPr>
          <p:cNvPr id="29" name="TextBox 28">
            <a:extLst>
              <a:ext uri="{FF2B5EF4-FFF2-40B4-BE49-F238E27FC236}">
                <a16:creationId xmlns:a16="http://schemas.microsoft.com/office/drawing/2014/main" id="{04E185D4-0466-1776-20AC-572D79DC6B00}"/>
              </a:ext>
            </a:extLst>
          </p:cNvPr>
          <p:cNvSpPr txBox="1"/>
          <p:nvPr/>
        </p:nvSpPr>
        <p:spPr>
          <a:xfrm>
            <a:off x="6388464" y="5500851"/>
            <a:ext cx="4502040" cy="646331"/>
          </a:xfrm>
          <a:prstGeom prst="rect">
            <a:avLst/>
          </a:prstGeom>
          <a:noFill/>
        </p:spPr>
        <p:txBody>
          <a:bodyPr wrap="square" rtlCol="0">
            <a:spAutoFit/>
          </a:bodyPr>
          <a:lstStyle/>
          <a:p>
            <a:r>
              <a:rPr lang="en-GB" dirty="0"/>
              <a:t>Increases risk of disclosure (think Netflix prize privacy breach in 2006!)</a:t>
            </a:r>
          </a:p>
        </p:txBody>
      </p:sp>
    </p:spTree>
    <p:extLst>
      <p:ext uri="{BB962C8B-B14F-4D97-AF65-F5344CB8AC3E}">
        <p14:creationId xmlns:p14="http://schemas.microsoft.com/office/powerpoint/2010/main" val="3854257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32966-7EA8-FF9C-681C-1EF692822F40}"/>
              </a:ext>
            </a:extLst>
          </p:cNvPr>
          <p:cNvSpPr>
            <a:spLocks noGrp="1"/>
          </p:cNvSpPr>
          <p:nvPr>
            <p:ph type="title"/>
          </p:nvPr>
        </p:nvSpPr>
        <p:spPr/>
        <p:txBody>
          <a:bodyPr/>
          <a:lstStyle/>
          <a:p>
            <a:r>
              <a:rPr lang="en-GB" dirty="0"/>
              <a:t>Sharing Linked Survey-to-SMD</a:t>
            </a:r>
          </a:p>
        </p:txBody>
      </p:sp>
      <p:sp>
        <p:nvSpPr>
          <p:cNvPr id="3" name="Content Placeholder 2">
            <a:extLst>
              <a:ext uri="{FF2B5EF4-FFF2-40B4-BE49-F238E27FC236}">
                <a16:creationId xmlns:a16="http://schemas.microsoft.com/office/drawing/2014/main" id="{6D60B222-0EBE-63FD-588E-722C18AE875C}"/>
              </a:ext>
            </a:extLst>
          </p:cNvPr>
          <p:cNvSpPr>
            <a:spLocks noGrp="1"/>
          </p:cNvSpPr>
          <p:nvPr>
            <p:ph idx="1"/>
          </p:nvPr>
        </p:nvSpPr>
        <p:spPr/>
        <p:txBody>
          <a:bodyPr>
            <a:normAutofit lnSpcReduction="10000"/>
          </a:bodyPr>
          <a:lstStyle/>
          <a:p>
            <a:r>
              <a:rPr lang="en-GB" sz="2000" dirty="0"/>
              <a:t>Researchers have begun to consider the ethical and practical implications of using SMD as an </a:t>
            </a:r>
            <a:r>
              <a:rPr lang="en-GB" sz="2000" i="1" dirty="0"/>
              <a:t>isolated </a:t>
            </a:r>
            <a:r>
              <a:rPr lang="en-GB" sz="2000" dirty="0"/>
              <a:t>data source but have largely neglected it in the context of linkage with other forms of data </a:t>
            </a:r>
            <a:r>
              <a:rPr lang="en-GB" sz="1800" dirty="0">
                <a:solidFill>
                  <a:schemeClr val="bg2">
                    <a:lumMod val="75000"/>
                  </a:schemeClr>
                </a:solidFill>
              </a:rPr>
              <a:t>(Sloan et al. 2020)</a:t>
            </a:r>
          </a:p>
          <a:p>
            <a:endParaRPr lang="en-GB" sz="1800" dirty="0">
              <a:solidFill>
                <a:schemeClr val="bg2">
                  <a:lumMod val="75000"/>
                </a:schemeClr>
              </a:solidFill>
            </a:endParaRPr>
          </a:p>
          <a:p>
            <a:r>
              <a:rPr lang="en-GB" sz="2000" dirty="0"/>
              <a:t>The innately </a:t>
            </a:r>
            <a:r>
              <a:rPr lang="en-GB" sz="2000" i="1" dirty="0"/>
              <a:t>disclosive</a:t>
            </a:r>
            <a:r>
              <a:rPr lang="en-GB" sz="2000" dirty="0"/>
              <a:t> nature of SMD (direct PII like names, biographies, profile pictures, locations) makes it impossible to share in its raw format without exposing sensitive survey information</a:t>
            </a:r>
          </a:p>
          <a:p>
            <a:endParaRPr lang="en-GB" sz="2000" dirty="0"/>
          </a:p>
          <a:p>
            <a:r>
              <a:rPr lang="en-GB" sz="2000" dirty="0"/>
              <a:t>However, researchers are also expected to abide by the principles of </a:t>
            </a:r>
            <a:r>
              <a:rPr lang="en-GB" sz="2000" b="1" dirty="0"/>
              <a:t>open research, </a:t>
            </a:r>
            <a:r>
              <a:rPr lang="en-GB" sz="2000" dirty="0"/>
              <a:t> making their datasets more Findable, Accessible, Interopable and Reusable (FAIR)</a:t>
            </a:r>
          </a:p>
          <a:p>
            <a:endParaRPr lang="en-GB" sz="2000" b="1" dirty="0"/>
          </a:p>
          <a:p>
            <a:r>
              <a:rPr lang="en-GB" sz="2000" dirty="0"/>
              <a:t>The importance of open research is compounded if the data has been publicly funded (maximise taxpayer value) or collected from vulnerable or harder to reach populations</a:t>
            </a:r>
          </a:p>
          <a:p>
            <a:endParaRPr lang="en-GB" sz="1800" u="sng" dirty="0">
              <a:solidFill>
                <a:schemeClr val="bg2">
                  <a:lumMod val="75000"/>
                </a:schemeClr>
              </a:solidFill>
            </a:endParaRPr>
          </a:p>
          <a:p>
            <a:endParaRPr lang="en-GB" sz="2000" dirty="0">
              <a:solidFill>
                <a:schemeClr val="bg2">
                  <a:lumMod val="75000"/>
                </a:schemeClr>
              </a:solidFill>
            </a:endParaRPr>
          </a:p>
        </p:txBody>
      </p:sp>
    </p:spTree>
    <p:extLst>
      <p:ext uri="{BB962C8B-B14F-4D97-AF65-F5344CB8AC3E}">
        <p14:creationId xmlns:p14="http://schemas.microsoft.com/office/powerpoint/2010/main" val="972264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DA959-CC8B-43BB-866E-DCC33E8B59D3}"/>
              </a:ext>
            </a:extLst>
          </p:cNvPr>
          <p:cNvSpPr>
            <a:spLocks noGrp="1"/>
          </p:cNvSpPr>
          <p:nvPr>
            <p:ph type="title"/>
          </p:nvPr>
        </p:nvSpPr>
        <p:spPr/>
        <p:txBody>
          <a:bodyPr/>
          <a:lstStyle/>
          <a:p>
            <a:r>
              <a:rPr lang="en-GB" dirty="0"/>
              <a:t>Guiding Question of Our Research</a:t>
            </a:r>
          </a:p>
        </p:txBody>
      </p:sp>
      <p:sp>
        <p:nvSpPr>
          <p:cNvPr id="3" name="Content Placeholder 2">
            <a:extLst>
              <a:ext uri="{FF2B5EF4-FFF2-40B4-BE49-F238E27FC236}">
                <a16:creationId xmlns:a16="http://schemas.microsoft.com/office/drawing/2014/main" id="{C779712A-6516-DBCA-EE26-1ABB946A4421}"/>
              </a:ext>
            </a:extLst>
          </p:cNvPr>
          <p:cNvSpPr>
            <a:spLocks noGrp="1"/>
          </p:cNvSpPr>
          <p:nvPr>
            <p:ph idx="1"/>
          </p:nvPr>
        </p:nvSpPr>
        <p:spPr/>
        <p:txBody>
          <a:bodyPr/>
          <a:lstStyle/>
          <a:p>
            <a:pPr marL="0" indent="0" algn="just">
              <a:buNone/>
            </a:pPr>
            <a:r>
              <a:rPr lang="en-GB" b="1" dirty="0"/>
              <a:t>RQ: </a:t>
            </a:r>
          </a:p>
          <a:p>
            <a:pPr marL="0" indent="0" algn="just">
              <a:buNone/>
            </a:pPr>
            <a:r>
              <a:rPr lang="en-GB" i="1" dirty="0"/>
              <a:t>How can we as researchers bridge the gap between data protection and open research when working with linked social media data?</a:t>
            </a:r>
          </a:p>
          <a:p>
            <a:pPr marL="0" indent="0" algn="just">
              <a:buNone/>
            </a:pPr>
            <a:endParaRPr lang="en-GB" i="1" dirty="0"/>
          </a:p>
          <a:p>
            <a:pPr marL="0" indent="0" algn="just">
              <a:buNone/>
            </a:pPr>
            <a:r>
              <a:rPr lang="en-GB" sz="2000" dirty="0"/>
              <a:t>This has been explored within the context of the ELPs framework for working with social media data, the issues that are compounded when linking these data with survey responses, and the methodological challenges we face</a:t>
            </a:r>
          </a:p>
          <a:p>
            <a:pPr marL="0" indent="0" algn="just">
              <a:buNone/>
            </a:pPr>
            <a:endParaRPr lang="en-GB" sz="2000" dirty="0"/>
          </a:p>
        </p:txBody>
      </p:sp>
    </p:spTree>
    <p:extLst>
      <p:ext uri="{BB962C8B-B14F-4D97-AF65-F5344CB8AC3E}">
        <p14:creationId xmlns:p14="http://schemas.microsoft.com/office/powerpoint/2010/main" val="275301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784CC-14B8-93F0-9E57-64BBD4915229}"/>
              </a:ext>
            </a:extLst>
          </p:cNvPr>
          <p:cNvSpPr>
            <a:spLocks noGrp="1"/>
          </p:cNvSpPr>
          <p:nvPr>
            <p:ph type="title"/>
          </p:nvPr>
        </p:nvSpPr>
        <p:spPr/>
        <p:txBody>
          <a:bodyPr/>
          <a:lstStyle/>
          <a:p>
            <a:r>
              <a:rPr lang="en-GB" dirty="0"/>
              <a:t>Making Linked SMD Shareable</a:t>
            </a:r>
          </a:p>
        </p:txBody>
      </p:sp>
      <p:sp>
        <p:nvSpPr>
          <p:cNvPr id="5" name="TextBox 4">
            <a:extLst>
              <a:ext uri="{FF2B5EF4-FFF2-40B4-BE49-F238E27FC236}">
                <a16:creationId xmlns:a16="http://schemas.microsoft.com/office/drawing/2014/main" id="{F6F7C25C-5820-BD12-FBDC-29AB63E97E52}"/>
              </a:ext>
            </a:extLst>
          </p:cNvPr>
          <p:cNvSpPr txBox="1"/>
          <p:nvPr/>
        </p:nvSpPr>
        <p:spPr>
          <a:xfrm>
            <a:off x="838200" y="1528826"/>
            <a:ext cx="10515600" cy="3079305"/>
          </a:xfrm>
          <a:prstGeom prst="rect">
            <a:avLst/>
          </a:prstGeom>
          <a:noFill/>
        </p:spPr>
        <p:txBody>
          <a:bodyPr wrap="square">
            <a:spAutoFit/>
          </a:bodyPr>
          <a:lstStyle/>
          <a:p>
            <a:pPr algn="just">
              <a:lnSpc>
                <a:spcPct val="200000"/>
              </a:lnSpc>
              <a:spcAft>
                <a:spcPts val="800"/>
              </a:spcAft>
              <a:buNone/>
            </a:pPr>
            <a:r>
              <a:rPr lang="en-GB" sz="1600" i="1" dirty="0">
                <a:effectLst/>
                <a:latin typeface="Times New Roman" panose="02020603050405020304" pitchFamily="18" charset="0"/>
                <a:ea typeface="Aptos" panose="020B0004020202020204" pitchFamily="34" charset="0"/>
                <a:cs typeface="Times New Roman" panose="02020603050405020304" pitchFamily="18" charset="0"/>
              </a:rPr>
              <a:t>“Data protection law does not require you to adopt an approach that takes account of every absolute or purely hypothetical or theoretical chance of identifiability. It is not always possible to reduce identifiability risk to a level of zero, and data protection law does not require you to do so…</a:t>
            </a:r>
            <a:endParaRPr lang="en-GB" sz="16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200000"/>
              </a:lnSpc>
              <a:spcAft>
                <a:spcPts val="800"/>
              </a:spcAft>
              <a:buNone/>
            </a:pPr>
            <a:r>
              <a:rPr lang="en-GB" sz="1600" i="1" dirty="0">
                <a:effectLst/>
                <a:latin typeface="Times New Roman" panose="02020603050405020304" pitchFamily="18" charset="0"/>
                <a:ea typeface="Aptos" panose="020B0004020202020204" pitchFamily="34" charset="0"/>
                <a:cs typeface="Times New Roman" panose="02020603050405020304" pitchFamily="18" charset="0"/>
              </a:rPr>
              <a:t> Effective anonymisation is about finding the right balance between managing this risk while keeping the utility of the data.” </a:t>
            </a:r>
            <a:r>
              <a:rPr lang="en-GB" sz="1600" dirty="0">
                <a:effectLst/>
                <a:latin typeface="Times New Roman" panose="02020603050405020304" pitchFamily="18" charset="0"/>
                <a:ea typeface="Aptos" panose="020B0004020202020204" pitchFamily="34" charset="0"/>
                <a:cs typeface="Times New Roman" panose="02020603050405020304" pitchFamily="18" charset="0"/>
              </a:rPr>
              <a:t>(p.12)</a:t>
            </a:r>
          </a:p>
          <a:p>
            <a:pPr algn="just">
              <a:lnSpc>
                <a:spcPct val="200000"/>
              </a:lnSpc>
              <a:spcAft>
                <a:spcPts val="800"/>
              </a:spcAft>
              <a:buNone/>
            </a:pPr>
            <a:r>
              <a:rPr lang="en-GB" sz="1200" b="1" dirty="0">
                <a:latin typeface="+mj-lt"/>
                <a:ea typeface="Aptos" panose="020B0004020202020204" pitchFamily="34" charset="0"/>
                <a:cs typeface="Times New Roman" panose="02020603050405020304" pitchFamily="18" charset="0"/>
              </a:rPr>
              <a:t>Information Commissioner’s Office (ICO) </a:t>
            </a:r>
            <a:r>
              <a:rPr lang="en-GB" sz="1200" dirty="0">
                <a:latin typeface="+mj-lt"/>
                <a:ea typeface="Aptos" panose="020B0004020202020204" pitchFamily="34" charset="0"/>
                <a:cs typeface="Times New Roman" panose="02020603050405020304" pitchFamily="18" charset="0"/>
              </a:rPr>
              <a:t>Anonymisation, pseudonymisation and privacy enhancing technologies guidance, Chapter 2, October 2021 </a:t>
            </a:r>
          </a:p>
        </p:txBody>
      </p:sp>
      <p:sp>
        <p:nvSpPr>
          <p:cNvPr id="6" name="TextBox 5">
            <a:extLst>
              <a:ext uri="{FF2B5EF4-FFF2-40B4-BE49-F238E27FC236}">
                <a16:creationId xmlns:a16="http://schemas.microsoft.com/office/drawing/2014/main" id="{AA674D24-97F7-9F32-3AAF-39C168B6C5C9}"/>
              </a:ext>
            </a:extLst>
          </p:cNvPr>
          <p:cNvSpPr txBox="1"/>
          <p:nvPr/>
        </p:nvSpPr>
        <p:spPr>
          <a:xfrm>
            <a:off x="694944" y="4837176"/>
            <a:ext cx="10762488" cy="1323439"/>
          </a:xfrm>
          <a:prstGeom prst="rect">
            <a:avLst/>
          </a:prstGeom>
          <a:noFill/>
        </p:spPr>
        <p:txBody>
          <a:bodyPr wrap="square" rtlCol="0">
            <a:spAutoFit/>
          </a:bodyPr>
          <a:lstStyle/>
          <a:p>
            <a:r>
              <a:rPr lang="en-GB" sz="1600" dirty="0">
                <a:latin typeface="+mj-lt"/>
              </a:rPr>
              <a:t>Three Areas of Guidance on Effective Anonymisation:</a:t>
            </a:r>
          </a:p>
          <a:p>
            <a:endParaRPr lang="en-GB" sz="1600" dirty="0">
              <a:latin typeface="+mj-lt"/>
            </a:endParaRPr>
          </a:p>
          <a:p>
            <a:pPr marL="342900" indent="-342900">
              <a:buAutoNum type="arabicParenR"/>
            </a:pPr>
            <a:r>
              <a:rPr lang="en-GB" sz="1600" b="1" dirty="0">
                <a:latin typeface="+mj-lt"/>
              </a:rPr>
              <a:t>Identifiability: </a:t>
            </a:r>
            <a:r>
              <a:rPr lang="en-GB" sz="1600" dirty="0">
                <a:latin typeface="+mj-lt"/>
              </a:rPr>
              <a:t>Can an individual be directly identified in a dataset, or  indirectly “singled out” from other participants?</a:t>
            </a:r>
          </a:p>
          <a:p>
            <a:pPr marL="342900" indent="-342900">
              <a:buAutoNum type="arabicParenR"/>
            </a:pPr>
            <a:r>
              <a:rPr lang="en-GB" sz="1600" b="1" dirty="0">
                <a:latin typeface="+mj-lt"/>
              </a:rPr>
              <a:t>Linkability: </a:t>
            </a:r>
            <a:r>
              <a:rPr lang="en-GB" sz="1600" dirty="0">
                <a:latin typeface="+mj-lt"/>
              </a:rPr>
              <a:t>Can an individual be identified when the data is linked with other external data sources?</a:t>
            </a:r>
          </a:p>
          <a:p>
            <a:pPr marL="342900" indent="-342900">
              <a:buAutoNum type="arabicParenR"/>
            </a:pPr>
            <a:r>
              <a:rPr lang="en-GB" sz="1600" b="1" dirty="0">
                <a:latin typeface="+mj-lt"/>
              </a:rPr>
              <a:t>Inference: </a:t>
            </a:r>
            <a:r>
              <a:rPr lang="en-GB" sz="1600" dirty="0">
                <a:latin typeface="+mj-lt"/>
              </a:rPr>
              <a:t>Is there any potential to reasonable infer, guess or predict personal data based on the data provided? </a:t>
            </a:r>
            <a:endParaRPr lang="en-GB" sz="1600" b="1" dirty="0">
              <a:latin typeface="+mj-lt"/>
            </a:endParaRPr>
          </a:p>
        </p:txBody>
      </p:sp>
    </p:spTree>
    <p:extLst>
      <p:ext uri="{BB962C8B-B14F-4D97-AF65-F5344CB8AC3E}">
        <p14:creationId xmlns:p14="http://schemas.microsoft.com/office/powerpoint/2010/main" val="2688844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77AF0E-6502-A24D-4CAE-5E90A0BEDCA1}"/>
              </a:ext>
            </a:extLst>
          </p:cNvPr>
          <p:cNvSpPr>
            <a:spLocks noGrp="1"/>
          </p:cNvSpPr>
          <p:nvPr>
            <p:ph type="title"/>
          </p:nvPr>
        </p:nvSpPr>
        <p:spPr/>
        <p:txBody>
          <a:bodyPr/>
          <a:lstStyle/>
          <a:p>
            <a:r>
              <a:rPr lang="en-GB" dirty="0"/>
              <a:t>Assessing the Risk of Identifiability</a:t>
            </a:r>
          </a:p>
        </p:txBody>
      </p:sp>
      <p:sp>
        <p:nvSpPr>
          <p:cNvPr id="5" name="Content Placeholder 4">
            <a:extLst>
              <a:ext uri="{FF2B5EF4-FFF2-40B4-BE49-F238E27FC236}">
                <a16:creationId xmlns:a16="http://schemas.microsoft.com/office/drawing/2014/main" id="{30CC907F-92C4-BDCF-050F-68D993017F0F}"/>
              </a:ext>
            </a:extLst>
          </p:cNvPr>
          <p:cNvSpPr>
            <a:spLocks noGrp="1"/>
          </p:cNvSpPr>
          <p:nvPr>
            <p:ph idx="1"/>
          </p:nvPr>
        </p:nvSpPr>
        <p:spPr/>
        <p:txBody>
          <a:bodyPr>
            <a:normAutofit/>
          </a:bodyPr>
          <a:lstStyle/>
          <a:p>
            <a:r>
              <a:rPr lang="en-GB" sz="2400" dirty="0">
                <a:latin typeface="+mj-lt"/>
              </a:rPr>
              <a:t>The “</a:t>
            </a:r>
            <a:r>
              <a:rPr lang="en-GB" sz="2400" b="1" dirty="0">
                <a:latin typeface="+mj-lt"/>
              </a:rPr>
              <a:t>Motivated Intruder Test”: </a:t>
            </a:r>
          </a:p>
          <a:p>
            <a:pPr marL="0" indent="0">
              <a:buNone/>
            </a:pPr>
            <a:r>
              <a:rPr lang="en-GB" sz="2000" dirty="0">
                <a:latin typeface="+mj-lt"/>
              </a:rPr>
              <a:t>How likely is it that a motivated intruder would be able to successfully identify an individual in your anonymised data?</a:t>
            </a:r>
          </a:p>
          <a:p>
            <a:pPr marL="0" indent="0">
              <a:buNone/>
            </a:pPr>
            <a:endParaRPr lang="en-GB" sz="2000" dirty="0">
              <a:latin typeface="+mj-lt"/>
            </a:endParaRPr>
          </a:p>
          <a:p>
            <a:r>
              <a:rPr lang="en-GB" sz="2000" dirty="0">
                <a:latin typeface="+mj-lt"/>
              </a:rPr>
              <a:t>The test accounts for identifiability risk in the context of the realistic cost of identification by other motivated actors in human, economic, temporal and technological terms</a:t>
            </a:r>
          </a:p>
          <a:p>
            <a:endParaRPr lang="en-GB" sz="2000" dirty="0">
              <a:latin typeface="+mj-lt"/>
            </a:endParaRPr>
          </a:p>
          <a:p>
            <a:r>
              <a:rPr lang="en-GB" sz="2000" dirty="0">
                <a:latin typeface="+mj-lt"/>
              </a:rPr>
              <a:t>A motivated intruder would be an individual who is:</a:t>
            </a:r>
          </a:p>
          <a:p>
            <a:endParaRPr lang="en-GB" sz="2000" dirty="0">
              <a:latin typeface="+mj-lt"/>
            </a:endParaRPr>
          </a:p>
          <a:p>
            <a:pPr marL="0" indent="0">
              <a:buNone/>
            </a:pPr>
            <a:endParaRPr lang="en-GB" sz="2000" b="1" dirty="0"/>
          </a:p>
        </p:txBody>
      </p:sp>
      <p:grpSp>
        <p:nvGrpSpPr>
          <p:cNvPr id="8" name="Group 7">
            <a:extLst>
              <a:ext uri="{FF2B5EF4-FFF2-40B4-BE49-F238E27FC236}">
                <a16:creationId xmlns:a16="http://schemas.microsoft.com/office/drawing/2014/main" id="{A459DDD6-99A6-4889-51F5-05B5B24D0F87}"/>
              </a:ext>
            </a:extLst>
          </p:cNvPr>
          <p:cNvGrpSpPr/>
          <p:nvPr/>
        </p:nvGrpSpPr>
        <p:grpSpPr>
          <a:xfrm>
            <a:off x="838200" y="4815287"/>
            <a:ext cx="4282440" cy="601038"/>
            <a:chOff x="838200" y="4815287"/>
            <a:chExt cx="4282440" cy="601038"/>
          </a:xfrm>
        </p:grpSpPr>
        <p:pic>
          <p:nvPicPr>
            <p:cNvPr id="6" name="Picture 5">
              <a:extLst>
                <a:ext uri="{FF2B5EF4-FFF2-40B4-BE49-F238E27FC236}">
                  <a16:creationId xmlns:a16="http://schemas.microsoft.com/office/drawing/2014/main" id="{0D011D96-13AB-9657-3725-D047BBE5D252}"/>
                </a:ext>
              </a:extLst>
            </p:cNvPr>
            <p:cNvPicPr>
              <a:picLocks noChangeAspect="1"/>
            </p:cNvPicPr>
            <p:nvPr/>
          </p:nvPicPr>
          <p:blipFill>
            <a:blip r:embed="rId2"/>
            <a:stretch>
              <a:fillRect/>
            </a:stretch>
          </p:blipFill>
          <p:spPr>
            <a:xfrm>
              <a:off x="838200" y="4815287"/>
              <a:ext cx="606552" cy="601038"/>
            </a:xfrm>
            <a:prstGeom prst="rect">
              <a:avLst/>
            </a:prstGeom>
          </p:spPr>
        </p:pic>
        <p:sp>
          <p:nvSpPr>
            <p:cNvPr id="7" name="TextBox 6">
              <a:extLst>
                <a:ext uri="{FF2B5EF4-FFF2-40B4-BE49-F238E27FC236}">
                  <a16:creationId xmlns:a16="http://schemas.microsoft.com/office/drawing/2014/main" id="{BCBCA52A-29EF-AA79-9251-56B2ECE6FA03}"/>
                </a:ext>
              </a:extLst>
            </p:cNvPr>
            <p:cNvSpPr txBox="1"/>
            <p:nvPr/>
          </p:nvSpPr>
          <p:spPr>
            <a:xfrm>
              <a:off x="1325880" y="4931140"/>
              <a:ext cx="3794760" cy="369332"/>
            </a:xfrm>
            <a:prstGeom prst="rect">
              <a:avLst/>
            </a:prstGeom>
            <a:noFill/>
          </p:spPr>
          <p:txBody>
            <a:bodyPr wrap="square" rtlCol="0">
              <a:spAutoFit/>
            </a:bodyPr>
            <a:lstStyle/>
            <a:p>
              <a:r>
                <a:rPr lang="en-GB" dirty="0"/>
                <a:t>Reasonably competent</a:t>
              </a:r>
            </a:p>
          </p:txBody>
        </p:sp>
      </p:grpSp>
      <p:grpSp>
        <p:nvGrpSpPr>
          <p:cNvPr id="9" name="Group 8">
            <a:extLst>
              <a:ext uri="{FF2B5EF4-FFF2-40B4-BE49-F238E27FC236}">
                <a16:creationId xmlns:a16="http://schemas.microsoft.com/office/drawing/2014/main" id="{EF608CC4-505C-99E8-EAEB-5ADDC61837E6}"/>
              </a:ext>
            </a:extLst>
          </p:cNvPr>
          <p:cNvGrpSpPr/>
          <p:nvPr/>
        </p:nvGrpSpPr>
        <p:grpSpPr>
          <a:xfrm>
            <a:off x="838200" y="5416325"/>
            <a:ext cx="4282440" cy="601038"/>
            <a:chOff x="838200" y="4815287"/>
            <a:chExt cx="4282440" cy="601038"/>
          </a:xfrm>
        </p:grpSpPr>
        <p:pic>
          <p:nvPicPr>
            <p:cNvPr id="10" name="Picture 9">
              <a:extLst>
                <a:ext uri="{FF2B5EF4-FFF2-40B4-BE49-F238E27FC236}">
                  <a16:creationId xmlns:a16="http://schemas.microsoft.com/office/drawing/2014/main" id="{D69361C5-5A39-0612-2C52-224F5EC378C5}"/>
                </a:ext>
              </a:extLst>
            </p:cNvPr>
            <p:cNvPicPr>
              <a:picLocks noChangeAspect="1"/>
            </p:cNvPicPr>
            <p:nvPr/>
          </p:nvPicPr>
          <p:blipFill>
            <a:blip r:embed="rId2"/>
            <a:stretch>
              <a:fillRect/>
            </a:stretch>
          </p:blipFill>
          <p:spPr>
            <a:xfrm>
              <a:off x="838200" y="4815287"/>
              <a:ext cx="606552" cy="601038"/>
            </a:xfrm>
            <a:prstGeom prst="rect">
              <a:avLst/>
            </a:prstGeom>
          </p:spPr>
        </p:pic>
        <p:sp>
          <p:nvSpPr>
            <p:cNvPr id="11" name="TextBox 10">
              <a:extLst>
                <a:ext uri="{FF2B5EF4-FFF2-40B4-BE49-F238E27FC236}">
                  <a16:creationId xmlns:a16="http://schemas.microsoft.com/office/drawing/2014/main" id="{0515AAAE-34AF-09D7-7C2A-61CFFB2E1C4A}"/>
                </a:ext>
              </a:extLst>
            </p:cNvPr>
            <p:cNvSpPr txBox="1"/>
            <p:nvPr/>
          </p:nvSpPr>
          <p:spPr>
            <a:xfrm>
              <a:off x="1325880" y="4931140"/>
              <a:ext cx="3794760" cy="369332"/>
            </a:xfrm>
            <a:prstGeom prst="rect">
              <a:avLst/>
            </a:prstGeom>
            <a:noFill/>
          </p:spPr>
          <p:txBody>
            <a:bodyPr wrap="square" rtlCol="0">
              <a:spAutoFit/>
            </a:bodyPr>
            <a:lstStyle/>
            <a:p>
              <a:r>
                <a:rPr lang="en-GB" dirty="0"/>
                <a:t>Access to appropriate resources</a:t>
              </a:r>
            </a:p>
          </p:txBody>
        </p:sp>
      </p:grpSp>
      <p:grpSp>
        <p:nvGrpSpPr>
          <p:cNvPr id="12" name="Group 11">
            <a:extLst>
              <a:ext uri="{FF2B5EF4-FFF2-40B4-BE49-F238E27FC236}">
                <a16:creationId xmlns:a16="http://schemas.microsoft.com/office/drawing/2014/main" id="{09596412-131E-B5B7-932C-F7FBAAED5A3E}"/>
              </a:ext>
            </a:extLst>
          </p:cNvPr>
          <p:cNvGrpSpPr/>
          <p:nvPr/>
        </p:nvGrpSpPr>
        <p:grpSpPr>
          <a:xfrm>
            <a:off x="838200" y="6038175"/>
            <a:ext cx="4282440" cy="601038"/>
            <a:chOff x="838200" y="4815287"/>
            <a:chExt cx="4282440" cy="601038"/>
          </a:xfrm>
        </p:grpSpPr>
        <p:pic>
          <p:nvPicPr>
            <p:cNvPr id="13" name="Picture 12">
              <a:extLst>
                <a:ext uri="{FF2B5EF4-FFF2-40B4-BE49-F238E27FC236}">
                  <a16:creationId xmlns:a16="http://schemas.microsoft.com/office/drawing/2014/main" id="{1EB9C8D0-5109-C43B-6BE7-6B55A6E937E8}"/>
                </a:ext>
              </a:extLst>
            </p:cNvPr>
            <p:cNvPicPr>
              <a:picLocks noChangeAspect="1"/>
            </p:cNvPicPr>
            <p:nvPr/>
          </p:nvPicPr>
          <p:blipFill>
            <a:blip r:embed="rId2"/>
            <a:stretch>
              <a:fillRect/>
            </a:stretch>
          </p:blipFill>
          <p:spPr>
            <a:xfrm>
              <a:off x="838200" y="4815287"/>
              <a:ext cx="606552" cy="601038"/>
            </a:xfrm>
            <a:prstGeom prst="rect">
              <a:avLst/>
            </a:prstGeom>
          </p:spPr>
        </p:pic>
        <p:sp>
          <p:nvSpPr>
            <p:cNvPr id="14" name="TextBox 13">
              <a:extLst>
                <a:ext uri="{FF2B5EF4-FFF2-40B4-BE49-F238E27FC236}">
                  <a16:creationId xmlns:a16="http://schemas.microsoft.com/office/drawing/2014/main" id="{9798ABCB-1589-2669-216A-FC1A6A889068}"/>
                </a:ext>
              </a:extLst>
            </p:cNvPr>
            <p:cNvSpPr txBox="1"/>
            <p:nvPr/>
          </p:nvSpPr>
          <p:spPr>
            <a:xfrm>
              <a:off x="1325880" y="4931140"/>
              <a:ext cx="3794760" cy="369332"/>
            </a:xfrm>
            <a:prstGeom prst="rect">
              <a:avLst/>
            </a:prstGeom>
            <a:noFill/>
          </p:spPr>
          <p:txBody>
            <a:bodyPr wrap="square" rtlCol="0">
              <a:spAutoFit/>
            </a:bodyPr>
            <a:lstStyle/>
            <a:p>
              <a:r>
                <a:rPr lang="en-GB" dirty="0"/>
                <a:t>Uses investigative techniques</a:t>
              </a:r>
            </a:p>
          </p:txBody>
        </p:sp>
      </p:grpSp>
      <p:grpSp>
        <p:nvGrpSpPr>
          <p:cNvPr id="17" name="Group 16">
            <a:extLst>
              <a:ext uri="{FF2B5EF4-FFF2-40B4-BE49-F238E27FC236}">
                <a16:creationId xmlns:a16="http://schemas.microsoft.com/office/drawing/2014/main" id="{8BEFCB98-AEEA-2343-FEA5-735218760659}"/>
              </a:ext>
            </a:extLst>
          </p:cNvPr>
          <p:cNvGrpSpPr/>
          <p:nvPr/>
        </p:nvGrpSpPr>
        <p:grpSpPr>
          <a:xfrm>
            <a:off x="6096000" y="4892394"/>
            <a:ext cx="4258186" cy="446823"/>
            <a:chOff x="6096000" y="4892394"/>
            <a:chExt cx="4258186" cy="446823"/>
          </a:xfrm>
        </p:grpSpPr>
        <p:pic>
          <p:nvPicPr>
            <p:cNvPr id="15" name="Picture 4" descr="Simple red cross mark icon. Vector. 26529438 Vector Art at Vecteezy">
              <a:extLst>
                <a:ext uri="{FF2B5EF4-FFF2-40B4-BE49-F238E27FC236}">
                  <a16:creationId xmlns:a16="http://schemas.microsoft.com/office/drawing/2014/main" id="{95E68279-145A-0C56-3291-254DD80E33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892394"/>
              <a:ext cx="463426" cy="446823"/>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A63E0548-824F-11B7-49F1-DEBC54578FBA}"/>
                </a:ext>
              </a:extLst>
            </p:cNvPr>
            <p:cNvSpPr txBox="1"/>
            <p:nvPr/>
          </p:nvSpPr>
          <p:spPr>
            <a:xfrm>
              <a:off x="6559426" y="4931139"/>
              <a:ext cx="3794760" cy="369332"/>
            </a:xfrm>
            <a:prstGeom prst="rect">
              <a:avLst/>
            </a:prstGeom>
            <a:noFill/>
          </p:spPr>
          <p:txBody>
            <a:bodyPr wrap="square" rtlCol="0">
              <a:spAutoFit/>
            </a:bodyPr>
            <a:lstStyle/>
            <a:p>
              <a:r>
                <a:rPr lang="en-GB" dirty="0"/>
                <a:t>Specialised knowledge</a:t>
              </a:r>
            </a:p>
          </p:txBody>
        </p:sp>
      </p:grpSp>
      <p:grpSp>
        <p:nvGrpSpPr>
          <p:cNvPr id="18" name="Group 17">
            <a:extLst>
              <a:ext uri="{FF2B5EF4-FFF2-40B4-BE49-F238E27FC236}">
                <a16:creationId xmlns:a16="http://schemas.microsoft.com/office/drawing/2014/main" id="{73600A1E-5A7A-00AE-15A7-DAC4B94298B7}"/>
              </a:ext>
            </a:extLst>
          </p:cNvPr>
          <p:cNvGrpSpPr/>
          <p:nvPr/>
        </p:nvGrpSpPr>
        <p:grpSpPr>
          <a:xfrm>
            <a:off x="6108127" y="5498125"/>
            <a:ext cx="4258186" cy="446823"/>
            <a:chOff x="6096000" y="4892394"/>
            <a:chExt cx="4258186" cy="446823"/>
          </a:xfrm>
        </p:grpSpPr>
        <p:pic>
          <p:nvPicPr>
            <p:cNvPr id="19" name="Picture 4" descr="Simple red cross mark icon. Vector. 26529438 Vector Art at Vecteezy">
              <a:extLst>
                <a:ext uri="{FF2B5EF4-FFF2-40B4-BE49-F238E27FC236}">
                  <a16:creationId xmlns:a16="http://schemas.microsoft.com/office/drawing/2014/main" id="{8C54C343-7D0D-AF79-CA12-4C596FA1FE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892394"/>
              <a:ext cx="463426" cy="446823"/>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4C267B87-F05D-72B7-0D75-FDAE4027EED5}"/>
                </a:ext>
              </a:extLst>
            </p:cNvPr>
            <p:cNvSpPr txBox="1"/>
            <p:nvPr/>
          </p:nvSpPr>
          <p:spPr>
            <a:xfrm>
              <a:off x="6559426" y="4931139"/>
              <a:ext cx="3794760" cy="369332"/>
            </a:xfrm>
            <a:prstGeom prst="rect">
              <a:avLst/>
            </a:prstGeom>
            <a:noFill/>
          </p:spPr>
          <p:txBody>
            <a:bodyPr wrap="square" rtlCol="0">
              <a:spAutoFit/>
            </a:bodyPr>
            <a:lstStyle/>
            <a:p>
              <a:r>
                <a:rPr lang="en-GB" dirty="0"/>
                <a:t>Access to specialist equipment</a:t>
              </a:r>
            </a:p>
          </p:txBody>
        </p:sp>
      </p:grpSp>
      <p:grpSp>
        <p:nvGrpSpPr>
          <p:cNvPr id="21" name="Group 20">
            <a:extLst>
              <a:ext uri="{FF2B5EF4-FFF2-40B4-BE49-F238E27FC236}">
                <a16:creationId xmlns:a16="http://schemas.microsoft.com/office/drawing/2014/main" id="{4CC77B84-434C-9C05-F4BE-7E28C6AB6A11}"/>
              </a:ext>
            </a:extLst>
          </p:cNvPr>
          <p:cNvGrpSpPr/>
          <p:nvPr/>
        </p:nvGrpSpPr>
        <p:grpSpPr>
          <a:xfrm>
            <a:off x="6096000" y="6112459"/>
            <a:ext cx="4258186" cy="446823"/>
            <a:chOff x="6096000" y="4892394"/>
            <a:chExt cx="4258186" cy="446823"/>
          </a:xfrm>
        </p:grpSpPr>
        <p:pic>
          <p:nvPicPr>
            <p:cNvPr id="22" name="Picture 4" descr="Simple red cross mark icon. Vector. 26529438 Vector Art at Vecteezy">
              <a:extLst>
                <a:ext uri="{FF2B5EF4-FFF2-40B4-BE49-F238E27FC236}">
                  <a16:creationId xmlns:a16="http://schemas.microsoft.com/office/drawing/2014/main" id="{ACE5F828-D50E-783C-CF54-DCC278DF03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892394"/>
              <a:ext cx="463426" cy="446823"/>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4909BFA4-2F33-CC9F-4A5C-9242D415E156}"/>
                </a:ext>
              </a:extLst>
            </p:cNvPr>
            <p:cNvSpPr txBox="1"/>
            <p:nvPr/>
          </p:nvSpPr>
          <p:spPr>
            <a:xfrm>
              <a:off x="6559426" y="4931139"/>
              <a:ext cx="3794760" cy="369332"/>
            </a:xfrm>
            <a:prstGeom prst="rect">
              <a:avLst/>
            </a:prstGeom>
            <a:noFill/>
          </p:spPr>
          <p:txBody>
            <a:bodyPr wrap="square" rtlCol="0">
              <a:spAutoFit/>
            </a:bodyPr>
            <a:lstStyle/>
            <a:p>
              <a:r>
                <a:rPr lang="en-GB" dirty="0"/>
                <a:t>Resort to criminal activity</a:t>
              </a:r>
            </a:p>
          </p:txBody>
        </p:sp>
      </p:grpSp>
    </p:spTree>
    <p:extLst>
      <p:ext uri="{BB962C8B-B14F-4D97-AF65-F5344CB8AC3E}">
        <p14:creationId xmlns:p14="http://schemas.microsoft.com/office/powerpoint/2010/main" val="294983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9C579-7386-4E7E-C327-7FF0AE7EF946}"/>
              </a:ext>
            </a:extLst>
          </p:cNvPr>
          <p:cNvSpPr>
            <a:spLocks noGrp="1"/>
          </p:cNvSpPr>
          <p:nvPr>
            <p:ph type="title"/>
          </p:nvPr>
        </p:nvSpPr>
        <p:spPr/>
        <p:txBody>
          <a:bodyPr/>
          <a:lstStyle/>
          <a:p>
            <a:r>
              <a:rPr lang="en-GB" dirty="0"/>
              <a:t>Statistical Disclosure Control (SDC)</a:t>
            </a:r>
          </a:p>
        </p:txBody>
      </p:sp>
      <p:sp>
        <p:nvSpPr>
          <p:cNvPr id="3" name="Content Placeholder 2">
            <a:extLst>
              <a:ext uri="{FF2B5EF4-FFF2-40B4-BE49-F238E27FC236}">
                <a16:creationId xmlns:a16="http://schemas.microsoft.com/office/drawing/2014/main" id="{79BFE532-8BF2-0C40-ECD6-2389DCC98A64}"/>
              </a:ext>
            </a:extLst>
          </p:cNvPr>
          <p:cNvSpPr>
            <a:spLocks noGrp="1"/>
          </p:cNvSpPr>
          <p:nvPr>
            <p:ph idx="1"/>
          </p:nvPr>
        </p:nvSpPr>
        <p:spPr>
          <a:xfrm>
            <a:off x="838200" y="1825625"/>
            <a:ext cx="4666488" cy="4667250"/>
          </a:xfrm>
        </p:spPr>
        <p:txBody>
          <a:bodyPr>
            <a:normAutofit fontScale="92500" lnSpcReduction="20000"/>
          </a:bodyPr>
          <a:lstStyle/>
          <a:p>
            <a:r>
              <a:rPr lang="en-GB" sz="1700" dirty="0">
                <a:latin typeface="+mj-lt"/>
              </a:rPr>
              <a:t>SDC is a set of methods and techniques used to reduce and test disclosure risks</a:t>
            </a:r>
          </a:p>
          <a:p>
            <a:endParaRPr lang="en-GB" sz="1700" dirty="0">
              <a:latin typeface="+mj-lt"/>
            </a:endParaRPr>
          </a:p>
          <a:p>
            <a:r>
              <a:rPr lang="en-GB" sz="1700" dirty="0">
                <a:latin typeface="+mj-lt"/>
              </a:rPr>
              <a:t>Even if one anonymises </a:t>
            </a:r>
            <a:r>
              <a:rPr lang="en-GB" sz="1700" i="1" dirty="0">
                <a:latin typeface="+mj-lt"/>
              </a:rPr>
              <a:t>direct</a:t>
            </a:r>
            <a:r>
              <a:rPr lang="en-GB" sz="1700" dirty="0">
                <a:latin typeface="+mj-lt"/>
              </a:rPr>
              <a:t> identifiers, the public nature of SMD makes all variables potential </a:t>
            </a:r>
            <a:r>
              <a:rPr lang="en-GB" sz="1700" i="1" dirty="0">
                <a:latin typeface="+mj-lt"/>
              </a:rPr>
              <a:t>quasi-identifiers</a:t>
            </a:r>
          </a:p>
          <a:p>
            <a:endParaRPr lang="en-GB" sz="1700" i="1" dirty="0"/>
          </a:p>
          <a:p>
            <a:r>
              <a:rPr lang="en-GB" sz="1700" dirty="0">
                <a:latin typeface="+mj-lt"/>
              </a:rPr>
              <a:t>Three key SDC assessments:</a:t>
            </a:r>
          </a:p>
          <a:p>
            <a:pPr>
              <a:buFontTx/>
              <a:buChar char="-"/>
            </a:pPr>
            <a:r>
              <a:rPr lang="en-GB" sz="1400" dirty="0">
                <a:latin typeface="+mj-lt"/>
              </a:rPr>
              <a:t>k-anonymity (prevents singling out) </a:t>
            </a:r>
          </a:p>
          <a:p>
            <a:pPr>
              <a:buFontTx/>
              <a:buChar char="-"/>
            </a:pPr>
            <a:r>
              <a:rPr lang="en-GB" sz="1400" dirty="0">
                <a:latin typeface="+mj-lt"/>
              </a:rPr>
              <a:t>l-diversity (prevents linkage attacks)</a:t>
            </a:r>
          </a:p>
          <a:p>
            <a:pPr>
              <a:buFontTx/>
              <a:buChar char="-"/>
            </a:pPr>
            <a:r>
              <a:rPr lang="en-GB" sz="1400" dirty="0">
                <a:latin typeface="+mj-lt"/>
              </a:rPr>
              <a:t>t-closeness (prevents inference)</a:t>
            </a:r>
          </a:p>
          <a:p>
            <a:pPr marL="0" indent="0">
              <a:buNone/>
            </a:pPr>
            <a:endParaRPr lang="en-GB" sz="1700" dirty="0">
              <a:latin typeface="+mj-lt"/>
            </a:endParaRPr>
          </a:p>
          <a:p>
            <a:r>
              <a:rPr lang="en-GB" sz="1700" dirty="0">
                <a:latin typeface="+mj-lt"/>
              </a:rPr>
              <a:t>SDC techniques include binning, aggregation, suppression, randomisation, deletion, and perturbation</a:t>
            </a:r>
          </a:p>
          <a:p>
            <a:endParaRPr lang="en-GB" sz="1700" dirty="0">
              <a:latin typeface="+mj-lt"/>
            </a:endParaRPr>
          </a:p>
          <a:p>
            <a:r>
              <a:rPr lang="en-GB" sz="1700" dirty="0">
                <a:latin typeface="+mj-lt"/>
              </a:rPr>
              <a:t>However, the more we </a:t>
            </a:r>
            <a:r>
              <a:rPr lang="en-GB" sz="1700" b="1" dirty="0">
                <a:latin typeface="+mj-lt"/>
              </a:rPr>
              <a:t>protect</a:t>
            </a:r>
            <a:r>
              <a:rPr lang="en-GB" sz="1700" dirty="0">
                <a:latin typeface="+mj-lt"/>
              </a:rPr>
              <a:t> the data, the more </a:t>
            </a:r>
            <a:r>
              <a:rPr lang="en-GB" sz="1700" b="1" dirty="0">
                <a:latin typeface="+mj-lt"/>
              </a:rPr>
              <a:t>utility</a:t>
            </a:r>
            <a:r>
              <a:rPr lang="en-GB" sz="1700" dirty="0">
                <a:latin typeface="+mj-lt"/>
              </a:rPr>
              <a:t> we destroy…</a:t>
            </a:r>
          </a:p>
          <a:p>
            <a:pPr marL="0" indent="0">
              <a:buNone/>
            </a:pPr>
            <a:endParaRPr lang="en-GB" sz="1600" dirty="0">
              <a:latin typeface="+mj-lt"/>
            </a:endParaRPr>
          </a:p>
        </p:txBody>
      </p:sp>
      <p:pic>
        <p:nvPicPr>
          <p:cNvPr id="4" name="Content Placeholder 4" descr="A diagram of a software system&#10;&#10;AI-generated content may be incorrect.">
            <a:extLst>
              <a:ext uri="{FF2B5EF4-FFF2-40B4-BE49-F238E27FC236}">
                <a16:creationId xmlns:a16="http://schemas.microsoft.com/office/drawing/2014/main" id="{00F901A5-D3F2-E3FE-7A20-3A3E94308F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9541" y="1822900"/>
            <a:ext cx="6267298" cy="4354063"/>
          </a:xfrm>
          <a:prstGeom prst="rect">
            <a:avLst/>
          </a:prstGeom>
        </p:spPr>
      </p:pic>
    </p:spTree>
    <p:extLst>
      <p:ext uri="{BB962C8B-B14F-4D97-AF65-F5344CB8AC3E}">
        <p14:creationId xmlns:p14="http://schemas.microsoft.com/office/powerpoint/2010/main" val="384945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FF1FB-FF8D-C6FE-434D-ED9B48186C49}"/>
              </a:ext>
            </a:extLst>
          </p:cNvPr>
          <p:cNvSpPr>
            <a:spLocks noGrp="1"/>
          </p:cNvSpPr>
          <p:nvPr>
            <p:ph type="title"/>
          </p:nvPr>
        </p:nvSpPr>
        <p:spPr/>
        <p:txBody>
          <a:bodyPr/>
          <a:lstStyle/>
          <a:p>
            <a:r>
              <a:rPr lang="en-US" dirty="0"/>
              <a:t>Data Protection-Data Utility Trade-off</a:t>
            </a:r>
            <a:endParaRPr lang="en-GB" dirty="0"/>
          </a:p>
        </p:txBody>
      </p:sp>
      <p:sp>
        <p:nvSpPr>
          <p:cNvPr id="3" name="Content Placeholder 2">
            <a:extLst>
              <a:ext uri="{FF2B5EF4-FFF2-40B4-BE49-F238E27FC236}">
                <a16:creationId xmlns:a16="http://schemas.microsoft.com/office/drawing/2014/main" id="{8BA2AFE1-D4B1-4D77-AF8E-99D7D6E3276E}"/>
              </a:ext>
            </a:extLst>
          </p:cNvPr>
          <p:cNvSpPr>
            <a:spLocks noGrp="1"/>
          </p:cNvSpPr>
          <p:nvPr>
            <p:ph idx="1"/>
          </p:nvPr>
        </p:nvSpPr>
        <p:spPr/>
        <p:txBody>
          <a:bodyPr>
            <a:normAutofit/>
          </a:bodyPr>
          <a:lstStyle/>
          <a:p>
            <a:r>
              <a:rPr lang="en-GB" sz="2000" dirty="0"/>
              <a:t>We conceive of the conflict between data access and data protection as a </a:t>
            </a:r>
            <a:r>
              <a:rPr lang="en-GB" sz="2000" b="1" dirty="0"/>
              <a:t>“spectrum of openness” </a:t>
            </a:r>
          </a:p>
          <a:p>
            <a:endParaRPr lang="en-GB" sz="2000" b="1" dirty="0"/>
          </a:p>
          <a:p>
            <a:r>
              <a:rPr lang="en-GB" sz="2000" dirty="0"/>
              <a:t>On the one side, researchers can opt for </a:t>
            </a:r>
            <a:r>
              <a:rPr lang="en-GB" sz="2000" b="1" dirty="0"/>
              <a:t>complete data protection </a:t>
            </a:r>
            <a:r>
              <a:rPr lang="en-GB" sz="2000" dirty="0"/>
              <a:t>where no linked data is shared (unless via controlled access) and only high-level summaries are published</a:t>
            </a:r>
          </a:p>
          <a:p>
            <a:endParaRPr lang="en-GB" sz="2000" dirty="0"/>
          </a:p>
          <a:p>
            <a:r>
              <a:rPr lang="en-GB" sz="2000" dirty="0"/>
              <a:t>On the other side, researchers could opt for </a:t>
            </a:r>
            <a:r>
              <a:rPr lang="en-GB" sz="2000" b="1" dirty="0"/>
              <a:t>complete openness</a:t>
            </a:r>
            <a:r>
              <a:rPr lang="en-GB" sz="2000" dirty="0"/>
              <a:t>, releasing the data in its raw state, entirely unedited, unfiltered and unprocessed</a:t>
            </a:r>
          </a:p>
          <a:p>
            <a:endParaRPr lang="en-GB" sz="2000" dirty="0"/>
          </a:p>
          <a:p>
            <a:r>
              <a:rPr lang="en-GB" sz="2000" dirty="0"/>
              <a:t>Then there are several positions in between, depending on how far a researcher wishes to lean one way or the other </a:t>
            </a:r>
          </a:p>
          <a:p>
            <a:endParaRPr lang="en-GB" sz="2000" dirty="0"/>
          </a:p>
        </p:txBody>
      </p:sp>
    </p:spTree>
    <p:extLst>
      <p:ext uri="{BB962C8B-B14F-4D97-AF65-F5344CB8AC3E}">
        <p14:creationId xmlns:p14="http://schemas.microsoft.com/office/powerpoint/2010/main" val="2917927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57C8CB-736F-53A3-B5AF-62D065E90FF6}"/>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5200" kern="1200" dirty="0">
                <a:solidFill>
                  <a:schemeClr val="tx1"/>
                </a:solidFill>
                <a:latin typeface="+mj-lt"/>
                <a:ea typeface="+mj-ea"/>
                <a:cs typeface="+mj-cs"/>
              </a:rPr>
              <a:t>Spectrum of Openness</a:t>
            </a:r>
          </a:p>
        </p:txBody>
      </p:sp>
      <p:pic>
        <p:nvPicPr>
          <p:cNvPr id="4" name="Picture 3">
            <a:extLst>
              <a:ext uri="{FF2B5EF4-FFF2-40B4-BE49-F238E27FC236}">
                <a16:creationId xmlns:a16="http://schemas.microsoft.com/office/drawing/2014/main" id="{4FF3885E-016A-43A0-67B4-C885812634A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1253" y="2039779"/>
            <a:ext cx="10512547" cy="3037468"/>
          </a:xfrm>
          <a:prstGeom prst="rect">
            <a:avLst/>
          </a:prstGeom>
        </p:spPr>
      </p:pic>
      <p:sp>
        <p:nvSpPr>
          <p:cNvPr id="5" name="Right Brace 4">
            <a:extLst>
              <a:ext uri="{FF2B5EF4-FFF2-40B4-BE49-F238E27FC236}">
                <a16:creationId xmlns:a16="http://schemas.microsoft.com/office/drawing/2014/main" id="{B09BB4B1-6F7D-42C4-704B-73D00FB8023B}"/>
              </a:ext>
            </a:extLst>
          </p:cNvPr>
          <p:cNvSpPr/>
          <p:nvPr/>
        </p:nvSpPr>
        <p:spPr>
          <a:xfrm rot="5400000">
            <a:off x="2149284" y="3561991"/>
            <a:ext cx="1404156" cy="3728694"/>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6" name="TextBox 5">
            <a:extLst>
              <a:ext uri="{FF2B5EF4-FFF2-40B4-BE49-F238E27FC236}">
                <a16:creationId xmlns:a16="http://schemas.microsoft.com/office/drawing/2014/main" id="{19BD7C1C-A459-76FA-1E57-470212509B09}"/>
              </a:ext>
            </a:extLst>
          </p:cNvPr>
          <p:cNvSpPr txBox="1"/>
          <p:nvPr/>
        </p:nvSpPr>
        <p:spPr>
          <a:xfrm>
            <a:off x="1521502" y="6194208"/>
            <a:ext cx="2952328" cy="369332"/>
          </a:xfrm>
          <a:prstGeom prst="rect">
            <a:avLst/>
          </a:prstGeom>
          <a:noFill/>
        </p:spPr>
        <p:txBody>
          <a:bodyPr wrap="square" rtlCol="0">
            <a:spAutoFit/>
          </a:bodyPr>
          <a:lstStyle/>
          <a:p>
            <a:r>
              <a:rPr lang="en-GB" b="1" dirty="0"/>
              <a:t>Lower Risk, Lower Utility</a:t>
            </a:r>
          </a:p>
        </p:txBody>
      </p:sp>
      <p:sp>
        <p:nvSpPr>
          <p:cNvPr id="7" name="Right Brace 6">
            <a:extLst>
              <a:ext uri="{FF2B5EF4-FFF2-40B4-BE49-F238E27FC236}">
                <a16:creationId xmlns:a16="http://schemas.microsoft.com/office/drawing/2014/main" id="{2701543A-707C-A1AA-F2A3-6767EF53A423}"/>
              </a:ext>
            </a:extLst>
          </p:cNvPr>
          <p:cNvSpPr/>
          <p:nvPr/>
        </p:nvSpPr>
        <p:spPr>
          <a:xfrm rot="5400000">
            <a:off x="8596079" y="3549765"/>
            <a:ext cx="1404156" cy="3728694"/>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8" name="TextBox 7">
            <a:extLst>
              <a:ext uri="{FF2B5EF4-FFF2-40B4-BE49-F238E27FC236}">
                <a16:creationId xmlns:a16="http://schemas.microsoft.com/office/drawing/2014/main" id="{5483FFF0-057F-CC00-D099-D709E2B6AF1D}"/>
              </a:ext>
            </a:extLst>
          </p:cNvPr>
          <p:cNvSpPr txBox="1"/>
          <p:nvPr/>
        </p:nvSpPr>
        <p:spPr>
          <a:xfrm>
            <a:off x="7821993" y="6175920"/>
            <a:ext cx="2952328" cy="369332"/>
          </a:xfrm>
          <a:prstGeom prst="rect">
            <a:avLst/>
          </a:prstGeom>
          <a:noFill/>
        </p:spPr>
        <p:txBody>
          <a:bodyPr wrap="square" rtlCol="0">
            <a:spAutoFit/>
          </a:bodyPr>
          <a:lstStyle/>
          <a:p>
            <a:r>
              <a:rPr lang="en-GB" b="1" dirty="0"/>
              <a:t>Higher Utility, Higher Risk</a:t>
            </a:r>
          </a:p>
        </p:txBody>
      </p:sp>
    </p:spTree>
    <p:extLst>
      <p:ext uri="{BB962C8B-B14F-4D97-AF65-F5344CB8AC3E}">
        <p14:creationId xmlns:p14="http://schemas.microsoft.com/office/powerpoint/2010/main" val="965522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E8192-9076-72FE-6328-50B48D8A70DA}"/>
              </a:ext>
            </a:extLst>
          </p:cNvPr>
          <p:cNvSpPr>
            <a:spLocks noGrp="1"/>
          </p:cNvSpPr>
          <p:nvPr>
            <p:ph type="title"/>
          </p:nvPr>
        </p:nvSpPr>
        <p:spPr/>
        <p:txBody>
          <a:bodyPr/>
          <a:lstStyle/>
          <a:p>
            <a:r>
              <a:rPr lang="en-GB" b="1" dirty="0"/>
              <a:t>Activity Questions:</a:t>
            </a:r>
          </a:p>
        </p:txBody>
      </p:sp>
      <p:sp>
        <p:nvSpPr>
          <p:cNvPr id="3" name="Content Placeholder 2">
            <a:extLst>
              <a:ext uri="{FF2B5EF4-FFF2-40B4-BE49-F238E27FC236}">
                <a16:creationId xmlns:a16="http://schemas.microsoft.com/office/drawing/2014/main" id="{4B88EB5F-405F-7571-CADA-43766B3ABCDC}"/>
              </a:ext>
            </a:extLst>
          </p:cNvPr>
          <p:cNvSpPr>
            <a:spLocks noGrp="1"/>
          </p:cNvSpPr>
          <p:nvPr>
            <p:ph idx="1"/>
          </p:nvPr>
        </p:nvSpPr>
        <p:spPr/>
        <p:txBody>
          <a:bodyPr>
            <a:normAutofit/>
          </a:bodyPr>
          <a:lstStyle/>
          <a:p>
            <a:pPr marL="514350" indent="-514350">
              <a:buFont typeface="+mj-lt"/>
              <a:buAutoNum type="arabicPeriod"/>
            </a:pPr>
            <a:r>
              <a:rPr lang="en-GB" sz="2000" dirty="0"/>
              <a:t>Where has some of your own research sat along this spectrum in regard to data sharing? This can be specific to SMD or linked SMD, or any data at all!</a:t>
            </a:r>
          </a:p>
          <a:p>
            <a:pPr marL="514350" indent="-514350">
              <a:buFont typeface="+mj-lt"/>
              <a:buAutoNum type="arabicPeriod"/>
            </a:pPr>
            <a:endParaRPr lang="en-GB" sz="2000" dirty="0"/>
          </a:p>
          <a:p>
            <a:pPr marL="514350" indent="-514350">
              <a:buFont typeface="+mj-lt"/>
              <a:buAutoNum type="arabicPeriod"/>
            </a:pPr>
            <a:r>
              <a:rPr lang="en-GB" sz="2000" dirty="0"/>
              <a:t>What types of methods and strategies have you followed for ensuring your data has been safe to share with others?</a:t>
            </a:r>
          </a:p>
          <a:p>
            <a:pPr marL="514350" indent="-514350">
              <a:buFont typeface="+mj-lt"/>
              <a:buAutoNum type="arabicPeriod"/>
            </a:pPr>
            <a:endParaRPr lang="en-GB" sz="2000" dirty="0"/>
          </a:p>
          <a:p>
            <a:pPr marL="514350" indent="-514350">
              <a:buFont typeface="+mj-lt"/>
              <a:buAutoNum type="arabicPeriod"/>
            </a:pPr>
            <a:r>
              <a:rPr lang="en-GB" sz="2000" dirty="0"/>
              <a:t>Do you have any reflections on times when you have followed one or more of the options on the spectrum? What worked well and what were the limitations?</a:t>
            </a:r>
          </a:p>
          <a:p>
            <a:pPr marL="514350" indent="-514350">
              <a:buFont typeface="+mj-lt"/>
              <a:buAutoNum type="arabicPeriod"/>
            </a:pPr>
            <a:endParaRPr lang="en-GB" sz="2000" dirty="0"/>
          </a:p>
          <a:p>
            <a:pPr marL="514350" indent="-514350">
              <a:buFont typeface="+mj-lt"/>
              <a:buAutoNum type="arabicPeriod"/>
            </a:pPr>
            <a:r>
              <a:rPr lang="en-GB" sz="2000" dirty="0"/>
              <a:t>Are there any steps along the spectrum that we’ve missed? Perhaps something that worked well in your own research.</a:t>
            </a:r>
          </a:p>
          <a:p>
            <a:pPr marL="514350" indent="-514350">
              <a:buFont typeface="+mj-lt"/>
              <a:buAutoNum type="arabicPeriod"/>
            </a:pPr>
            <a:endParaRPr lang="en-GB" sz="2000" dirty="0"/>
          </a:p>
          <a:p>
            <a:pPr marL="514350" indent="-514350">
              <a:buFont typeface="+mj-lt"/>
              <a:buAutoNum type="arabicPeriod"/>
            </a:pPr>
            <a:endParaRPr lang="en-GB" sz="2000" dirty="0"/>
          </a:p>
        </p:txBody>
      </p:sp>
    </p:spTree>
    <p:extLst>
      <p:ext uri="{BB962C8B-B14F-4D97-AF65-F5344CB8AC3E}">
        <p14:creationId xmlns:p14="http://schemas.microsoft.com/office/powerpoint/2010/main" val="363182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217</TotalTime>
  <Words>1380</Words>
  <Application>Microsoft Office PowerPoint</Application>
  <PresentationFormat>Widescreen</PresentationFormat>
  <Paragraphs>133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Times New Roman</vt:lpstr>
      <vt:lpstr>Office Theme</vt:lpstr>
      <vt:lpstr>PowerPoint Presentation</vt:lpstr>
      <vt:lpstr>Standalone Social Media Data in Research</vt:lpstr>
      <vt:lpstr>Working with Social Media Data (ELPs)</vt:lpstr>
      <vt:lpstr>User Expectations</vt:lpstr>
      <vt:lpstr>The “Third Era” of Survey Research</vt:lpstr>
      <vt:lpstr>PowerPoint Presentation</vt:lpstr>
      <vt:lpstr>Sharing Linked Survey-to-SMD</vt:lpstr>
      <vt:lpstr>Guiding Question of Our Research</vt:lpstr>
      <vt:lpstr>Making Linked SMD Shareable</vt:lpstr>
      <vt:lpstr>Assessing the Risk of Identifiability</vt:lpstr>
      <vt:lpstr>Statistical Disclosure Control (SDC)</vt:lpstr>
      <vt:lpstr>Data Protection-Data Utility Trade-off</vt:lpstr>
      <vt:lpstr>Spectrum of Openness</vt:lpstr>
      <vt:lpstr>Activity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Conor Gaughan</dc:creator>
  <cp:lastModifiedBy>Conor Gaughan</cp:lastModifiedBy>
  <cp:revision>1</cp:revision>
  <dcterms:created xsi:type="dcterms:W3CDTF">2026-01-13T09:48:27Z</dcterms:created>
  <dcterms:modified xsi:type="dcterms:W3CDTF">2026-01-13T13:26:00Z</dcterms:modified>
</cp:coreProperties>
</file>